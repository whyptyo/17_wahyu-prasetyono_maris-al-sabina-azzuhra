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Neo Tech Bold" charset="1" panose="020B0804030504040204"/>
      <p:regular r:id="rId42"/>
    </p:embeddedFont>
    <p:embeddedFont>
      <p:font typeface="Neo Tech" charset="1" panose="020B0504030504040204"/>
      <p:regular r:id="rId43"/>
    </p:embeddedFont>
    <p:embeddedFont>
      <p:font typeface="Neo Tech Light" charset="1" panose="020B0304030504040204"/>
      <p:regular r:id="rId44"/>
    </p:embeddedFont>
    <p:embeddedFont>
      <p:font typeface="Open Sans Bold" charset="1" panose="020B0806030504020204"/>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https://github.com/WhyPtyo/17_Wahyu-Prasetyono_Maris-Al-Sabina-Azzuhra" TargetMode="External" Type="http://schemas.openxmlformats.org/officeDocument/2006/relationships/hyperlink"/></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8" id="8"/>
          <p:cNvSpPr/>
          <p:nvPr/>
        </p:nvSpPr>
        <p:spPr>
          <a:xfrm flipH="false" flipV="false" rot="0">
            <a:off x="1729946" y="1028700"/>
            <a:ext cx="14828108" cy="8229600"/>
          </a:xfrm>
          <a:custGeom>
            <a:avLst/>
            <a:gdLst/>
            <a:ahLst/>
            <a:cxnLst/>
            <a:rect r="r" b="b" t="t" l="l"/>
            <a:pathLst>
              <a:path h="8229600" w="14828108">
                <a:moveTo>
                  <a:pt x="0" y="0"/>
                </a:moveTo>
                <a:lnTo>
                  <a:pt x="14828108" y="0"/>
                </a:lnTo>
                <a:lnTo>
                  <a:pt x="1482810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71355" y="7684325"/>
            <a:ext cx="3731115" cy="2957757"/>
          </a:xfrm>
          <a:custGeom>
            <a:avLst/>
            <a:gdLst/>
            <a:ahLst/>
            <a:cxnLst/>
            <a:rect r="r" b="b" t="t" l="l"/>
            <a:pathLst>
              <a:path h="2957757" w="3731115">
                <a:moveTo>
                  <a:pt x="0" y="0"/>
                </a:moveTo>
                <a:lnTo>
                  <a:pt x="3731115" y="0"/>
                </a:lnTo>
                <a:lnTo>
                  <a:pt x="3731115" y="2957757"/>
                </a:lnTo>
                <a:lnTo>
                  <a:pt x="0" y="2957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0">
            <a:off x="15604847" y="-832180"/>
            <a:ext cx="3396344" cy="2692375"/>
          </a:xfrm>
          <a:custGeom>
            <a:avLst/>
            <a:gdLst/>
            <a:ahLst/>
            <a:cxnLst/>
            <a:rect r="r" b="b" t="t" l="l"/>
            <a:pathLst>
              <a:path h="2692375" w="3396344">
                <a:moveTo>
                  <a:pt x="3396345" y="0"/>
                </a:moveTo>
                <a:lnTo>
                  <a:pt x="0" y="0"/>
                </a:lnTo>
                <a:lnTo>
                  <a:pt x="0" y="2692375"/>
                </a:lnTo>
                <a:lnTo>
                  <a:pt x="3396345" y="2692375"/>
                </a:lnTo>
                <a:lnTo>
                  <a:pt x="339634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259760" y="6378821"/>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2781048" y="6378821"/>
            <a:ext cx="2242799" cy="1529181"/>
          </a:xfrm>
          <a:custGeom>
            <a:avLst/>
            <a:gdLst/>
            <a:ahLst/>
            <a:cxnLst/>
            <a:rect r="r" b="b" t="t" l="l"/>
            <a:pathLst>
              <a:path h="1529181" w="2242799">
                <a:moveTo>
                  <a:pt x="0" y="0"/>
                </a:moveTo>
                <a:lnTo>
                  <a:pt x="2242800" y="0"/>
                </a:lnTo>
                <a:lnTo>
                  <a:pt x="2242800"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2677753" y="2653816"/>
            <a:ext cx="12785441" cy="3518028"/>
          </a:xfrm>
          <a:prstGeom prst="rect">
            <a:avLst/>
          </a:prstGeom>
        </p:spPr>
        <p:txBody>
          <a:bodyPr anchor="t" rtlCol="false" tIns="0" lIns="0" bIns="0" rIns="0">
            <a:spAutoFit/>
          </a:bodyPr>
          <a:lstStyle/>
          <a:p>
            <a:pPr algn="ctr">
              <a:lnSpc>
                <a:spcPts val="6783"/>
              </a:lnSpc>
            </a:pPr>
            <a:r>
              <a:rPr lang="en-US" b="true" sz="5299">
                <a:solidFill>
                  <a:srgbClr val="1EF1FF"/>
                </a:solidFill>
                <a:latin typeface="Neo Tech Bold"/>
                <a:ea typeface="Neo Tech Bold"/>
                <a:cs typeface="Neo Tech Bold"/>
                <a:sym typeface="Neo Tech Bold"/>
              </a:rPr>
              <a:t>INTEGRASI DATA PRODUKSI, KONSUMSI, DAN HARGA UNTUK MENGANALISIS KESTABILAN PANGAN POKOK DI INDONESIA</a:t>
            </a:r>
          </a:p>
        </p:txBody>
      </p:sp>
      <p:sp>
        <p:nvSpPr>
          <p:cNvPr name="TextBox 14" id="14"/>
          <p:cNvSpPr txBox="true"/>
          <p:nvPr/>
        </p:nvSpPr>
        <p:spPr>
          <a:xfrm rot="0">
            <a:off x="5979024" y="2039852"/>
            <a:ext cx="6182899" cy="549862"/>
          </a:xfrm>
          <a:prstGeom prst="rect">
            <a:avLst/>
          </a:prstGeom>
        </p:spPr>
        <p:txBody>
          <a:bodyPr anchor="t" rtlCol="false" tIns="0" lIns="0" bIns="0" rIns="0">
            <a:spAutoFit/>
          </a:bodyPr>
          <a:lstStyle/>
          <a:p>
            <a:pPr algn="ctr">
              <a:lnSpc>
                <a:spcPts val="3926"/>
              </a:lnSpc>
            </a:pPr>
            <a:r>
              <a:rPr lang="en-US" sz="3067" spc="-88">
                <a:solidFill>
                  <a:srgbClr val="FFFFFF"/>
                </a:solidFill>
                <a:latin typeface="Neo Tech"/>
                <a:ea typeface="Neo Tech"/>
                <a:cs typeface="Neo Tech"/>
                <a:sym typeface="Neo Tech"/>
              </a:rPr>
              <a:t>Project Data Wrangling</a:t>
            </a:r>
          </a:p>
        </p:txBody>
      </p:sp>
      <p:sp>
        <p:nvSpPr>
          <p:cNvPr name="TextBox 15" id="15"/>
          <p:cNvSpPr txBox="true"/>
          <p:nvPr/>
        </p:nvSpPr>
        <p:spPr>
          <a:xfrm rot="0">
            <a:off x="7902417" y="6302621"/>
            <a:ext cx="2336113" cy="495760"/>
          </a:xfrm>
          <a:prstGeom prst="rect">
            <a:avLst/>
          </a:prstGeom>
        </p:spPr>
        <p:txBody>
          <a:bodyPr anchor="t" rtlCol="false" tIns="0" lIns="0" bIns="0" rIns="0">
            <a:spAutoFit/>
          </a:bodyPr>
          <a:lstStyle/>
          <a:p>
            <a:pPr algn="ctr">
              <a:lnSpc>
                <a:spcPts val="3542"/>
              </a:lnSpc>
            </a:pPr>
            <a:r>
              <a:rPr lang="en-US" sz="2767" spc="-80">
                <a:solidFill>
                  <a:srgbClr val="FFFFFF"/>
                </a:solidFill>
                <a:latin typeface="Neo Tech"/>
                <a:ea typeface="Neo Tech"/>
                <a:cs typeface="Neo Tech"/>
                <a:sym typeface="Neo Tech"/>
              </a:rPr>
              <a:t>kelompok 17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395285" y="4371665"/>
            <a:ext cx="2968597" cy="771835"/>
          </a:xfrm>
          <a:custGeom>
            <a:avLst/>
            <a:gdLst/>
            <a:ahLst/>
            <a:cxnLst/>
            <a:rect r="r" b="b" t="t" l="l"/>
            <a:pathLst>
              <a:path h="771835" w="2968597">
                <a:moveTo>
                  <a:pt x="0" y="0"/>
                </a:moveTo>
                <a:lnTo>
                  <a:pt x="2968597" y="0"/>
                </a:lnTo>
                <a:lnTo>
                  <a:pt x="2968597" y="771835"/>
                </a:lnTo>
                <a:lnTo>
                  <a:pt x="0" y="7718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2395285" y="6027310"/>
            <a:ext cx="2968597" cy="771835"/>
          </a:xfrm>
          <a:custGeom>
            <a:avLst/>
            <a:gdLst/>
            <a:ahLst/>
            <a:cxnLst/>
            <a:rect r="r" b="b" t="t" l="l"/>
            <a:pathLst>
              <a:path h="771835" w="2968597">
                <a:moveTo>
                  <a:pt x="0" y="0"/>
                </a:moveTo>
                <a:lnTo>
                  <a:pt x="2968597" y="0"/>
                </a:lnTo>
                <a:lnTo>
                  <a:pt x="2968597" y="771835"/>
                </a:lnTo>
                <a:lnTo>
                  <a:pt x="0" y="7718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0" id="20"/>
          <p:cNvSpPr txBox="true"/>
          <p:nvPr/>
        </p:nvSpPr>
        <p:spPr>
          <a:xfrm rot="0">
            <a:off x="5363882" y="2278877"/>
            <a:ext cx="7829214" cy="1035440"/>
          </a:xfrm>
          <a:prstGeom prst="rect">
            <a:avLst/>
          </a:prstGeom>
        </p:spPr>
        <p:txBody>
          <a:bodyPr anchor="t" rtlCol="false" tIns="0" lIns="0" bIns="0" rIns="0">
            <a:spAutoFit/>
          </a:bodyPr>
          <a:lstStyle/>
          <a:p>
            <a:pPr algn="ctr">
              <a:lnSpc>
                <a:spcPts val="7394"/>
              </a:lnSpc>
            </a:pPr>
            <a:r>
              <a:rPr lang="en-US" b="true" sz="5776">
                <a:solidFill>
                  <a:srgbClr val="FFFFFF"/>
                </a:solidFill>
                <a:latin typeface="Neo Tech Bold"/>
                <a:ea typeface="Neo Tech Bold"/>
                <a:cs typeface="Neo Tech Bold"/>
                <a:sym typeface="Neo Tech Bold"/>
              </a:rPr>
              <a:t>ANGGOTA KELOMPOK:</a:t>
            </a:r>
          </a:p>
        </p:txBody>
      </p:sp>
      <p:sp>
        <p:nvSpPr>
          <p:cNvPr name="TextBox 21" id="21"/>
          <p:cNvSpPr txBox="true"/>
          <p:nvPr/>
        </p:nvSpPr>
        <p:spPr>
          <a:xfrm rot="0">
            <a:off x="2833113" y="4477330"/>
            <a:ext cx="2092941" cy="484304"/>
          </a:xfrm>
          <a:prstGeom prst="rect">
            <a:avLst/>
          </a:prstGeom>
        </p:spPr>
        <p:txBody>
          <a:bodyPr anchor="t" rtlCol="false" tIns="0" lIns="0" bIns="0" rIns="0">
            <a:spAutoFit/>
          </a:bodyPr>
          <a:lstStyle/>
          <a:p>
            <a:pPr algn="ctr">
              <a:lnSpc>
                <a:spcPts val="3441"/>
              </a:lnSpc>
            </a:pPr>
            <a:r>
              <a:rPr lang="en-US" sz="2688" spc="-77">
                <a:solidFill>
                  <a:srgbClr val="FFFFFF"/>
                </a:solidFill>
                <a:latin typeface="Neo Tech"/>
                <a:ea typeface="Neo Tech"/>
                <a:cs typeface="Neo Tech"/>
                <a:sym typeface="Neo Tech"/>
              </a:rPr>
              <a:t>Anggota 1</a:t>
            </a:r>
          </a:p>
        </p:txBody>
      </p:sp>
      <p:sp>
        <p:nvSpPr>
          <p:cNvPr name="TextBox 22" id="22"/>
          <p:cNvSpPr txBox="true"/>
          <p:nvPr/>
        </p:nvSpPr>
        <p:spPr>
          <a:xfrm rot="0">
            <a:off x="2782560" y="6132976"/>
            <a:ext cx="2092941" cy="484304"/>
          </a:xfrm>
          <a:prstGeom prst="rect">
            <a:avLst/>
          </a:prstGeom>
        </p:spPr>
        <p:txBody>
          <a:bodyPr anchor="t" rtlCol="false" tIns="0" lIns="0" bIns="0" rIns="0">
            <a:spAutoFit/>
          </a:bodyPr>
          <a:lstStyle/>
          <a:p>
            <a:pPr algn="ctr">
              <a:lnSpc>
                <a:spcPts val="3441"/>
              </a:lnSpc>
            </a:pPr>
            <a:r>
              <a:rPr lang="en-US" sz="2688" spc="-77">
                <a:solidFill>
                  <a:srgbClr val="FFFFFF"/>
                </a:solidFill>
                <a:latin typeface="Neo Tech"/>
                <a:ea typeface="Neo Tech"/>
                <a:cs typeface="Neo Tech"/>
                <a:sym typeface="Neo Tech"/>
              </a:rPr>
              <a:t>Anggota 2</a:t>
            </a:r>
          </a:p>
        </p:txBody>
      </p:sp>
      <p:sp>
        <p:nvSpPr>
          <p:cNvPr name="TextBox 23" id="23"/>
          <p:cNvSpPr txBox="true"/>
          <p:nvPr/>
        </p:nvSpPr>
        <p:spPr>
          <a:xfrm rot="0">
            <a:off x="5940961" y="5999626"/>
            <a:ext cx="7810619" cy="681675"/>
          </a:xfrm>
          <a:prstGeom prst="rect">
            <a:avLst/>
          </a:prstGeom>
        </p:spPr>
        <p:txBody>
          <a:bodyPr anchor="t" rtlCol="false" tIns="0" lIns="0" bIns="0" rIns="0">
            <a:spAutoFit/>
          </a:bodyPr>
          <a:lstStyle/>
          <a:p>
            <a:pPr algn="ctr">
              <a:lnSpc>
                <a:spcPts val="5389"/>
              </a:lnSpc>
            </a:pPr>
            <a:r>
              <a:rPr lang="en-US" sz="3151" spc="34">
                <a:solidFill>
                  <a:srgbClr val="FFFFFF"/>
                </a:solidFill>
                <a:latin typeface="Neo Tech"/>
                <a:ea typeface="Neo Tech"/>
                <a:cs typeface="Neo Tech"/>
                <a:sym typeface="Neo Tech"/>
              </a:rPr>
              <a:t>Maris Al Sabina Azzuhra (24031554188)</a:t>
            </a:r>
          </a:p>
        </p:txBody>
      </p:sp>
      <p:sp>
        <p:nvSpPr>
          <p:cNvPr name="TextBox 24" id="24"/>
          <p:cNvSpPr txBox="true"/>
          <p:nvPr/>
        </p:nvSpPr>
        <p:spPr>
          <a:xfrm rot="0">
            <a:off x="5940961" y="4343980"/>
            <a:ext cx="7810619" cy="681675"/>
          </a:xfrm>
          <a:prstGeom prst="rect">
            <a:avLst/>
          </a:prstGeom>
        </p:spPr>
        <p:txBody>
          <a:bodyPr anchor="t" rtlCol="false" tIns="0" lIns="0" bIns="0" rIns="0">
            <a:spAutoFit/>
          </a:bodyPr>
          <a:lstStyle/>
          <a:p>
            <a:pPr algn="ctr">
              <a:lnSpc>
                <a:spcPts val="5389"/>
              </a:lnSpc>
            </a:pPr>
            <a:r>
              <a:rPr lang="en-US" sz="3151" spc="34">
                <a:solidFill>
                  <a:srgbClr val="FFFFFF"/>
                </a:solidFill>
                <a:latin typeface="Neo Tech"/>
                <a:ea typeface="Neo Tech"/>
                <a:cs typeface="Neo Tech"/>
                <a:sym typeface="Neo Tech"/>
              </a:rPr>
              <a:t>Wahyu Prasetyono          (24031554133)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6112534" y="2278877"/>
            <a:ext cx="6331910" cy="1035440"/>
          </a:xfrm>
          <a:prstGeom prst="rect">
            <a:avLst/>
          </a:prstGeom>
        </p:spPr>
        <p:txBody>
          <a:bodyPr anchor="t" rtlCol="false" tIns="0" lIns="0" bIns="0" rIns="0">
            <a:spAutoFit/>
          </a:bodyPr>
          <a:lstStyle/>
          <a:p>
            <a:pPr algn="ctr">
              <a:lnSpc>
                <a:spcPts val="7394"/>
              </a:lnSpc>
            </a:pPr>
            <a:r>
              <a:rPr lang="en-US" b="true" sz="5776">
                <a:solidFill>
                  <a:srgbClr val="FFFFFF"/>
                </a:solidFill>
                <a:latin typeface="Neo Tech Bold"/>
                <a:ea typeface="Neo Tech Bold"/>
                <a:cs typeface="Neo Tech Bold"/>
                <a:sym typeface="Neo Tech Bold"/>
              </a:rPr>
              <a:t>LATAR BELAKANG</a:t>
            </a:r>
          </a:p>
        </p:txBody>
      </p:sp>
      <p:sp>
        <p:nvSpPr>
          <p:cNvPr name="TextBox 19" id="19"/>
          <p:cNvSpPr txBox="true"/>
          <p:nvPr/>
        </p:nvSpPr>
        <p:spPr>
          <a:xfrm rot="0">
            <a:off x="2390206" y="3440438"/>
            <a:ext cx="13507588" cy="4613129"/>
          </a:xfrm>
          <a:prstGeom prst="rect">
            <a:avLst/>
          </a:prstGeom>
        </p:spPr>
        <p:txBody>
          <a:bodyPr anchor="t" rtlCol="false" tIns="0" lIns="0" bIns="0" rIns="0">
            <a:spAutoFit/>
          </a:bodyPr>
          <a:lstStyle/>
          <a:p>
            <a:pPr algn="ctr">
              <a:lnSpc>
                <a:spcPts val="5200"/>
              </a:lnSpc>
            </a:pPr>
            <a:r>
              <a:rPr lang="en-US" sz="3041" spc="33">
                <a:solidFill>
                  <a:srgbClr val="FFFFFF"/>
                </a:solidFill>
                <a:latin typeface="Neo Tech Light"/>
                <a:ea typeface="Neo Tech Light"/>
                <a:cs typeface="Neo Tech Light"/>
                <a:sym typeface="Neo Tech Light"/>
              </a:rPr>
              <a:t>Kestabilan pangan adalah kondisi terpenuhinya pangan bagi negara sampai dengan perseorangan yang tercermin dari tersedianya pangan yang cukup, baik jumlah maupun mutunya, aman, beragam, bergizi, merata, dan terjangkau. Ketidaksinkronan ini menyulitkan pengambilan keputusan strategis, misalnya kapan harus melakukan impor beras agar tidak menjatuhkan harga petani saat panen raya. Oleh karena itu, diperlukan proses Data Wrangling untuk mengintegrasikan data-data terpisah ini menjadi satu basis data yang siap analisis.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251092" y="3645181"/>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Freeform 19" id="19"/>
          <p:cNvSpPr/>
          <p:nvPr/>
        </p:nvSpPr>
        <p:spPr>
          <a:xfrm flipH="false" flipV="false" rot="0">
            <a:off x="2251092" y="4982502"/>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TextBox 20" id="20"/>
          <p:cNvSpPr txBox="true"/>
          <p:nvPr/>
        </p:nvSpPr>
        <p:spPr>
          <a:xfrm rot="0">
            <a:off x="5537746" y="2278877"/>
            <a:ext cx="7481486" cy="1035440"/>
          </a:xfrm>
          <a:prstGeom prst="rect">
            <a:avLst/>
          </a:prstGeom>
        </p:spPr>
        <p:txBody>
          <a:bodyPr anchor="t" rtlCol="false" tIns="0" lIns="0" bIns="0" rIns="0">
            <a:spAutoFit/>
          </a:bodyPr>
          <a:lstStyle/>
          <a:p>
            <a:pPr algn="ctr">
              <a:lnSpc>
                <a:spcPts val="7394"/>
              </a:lnSpc>
            </a:pPr>
            <a:r>
              <a:rPr lang="en-US" b="true" sz="5776">
                <a:solidFill>
                  <a:srgbClr val="FFFFFF"/>
                </a:solidFill>
                <a:latin typeface="Neo Tech Bold"/>
                <a:ea typeface="Neo Tech Bold"/>
                <a:cs typeface="Neo Tech Bold"/>
                <a:sym typeface="Neo Tech Bold"/>
              </a:rPr>
              <a:t>RUMUSAN MASALAH</a:t>
            </a:r>
          </a:p>
        </p:txBody>
      </p:sp>
      <p:sp>
        <p:nvSpPr>
          <p:cNvPr name="TextBox 21" id="21"/>
          <p:cNvSpPr txBox="true"/>
          <p:nvPr/>
        </p:nvSpPr>
        <p:spPr>
          <a:xfrm rot="0">
            <a:off x="3255892" y="3445156"/>
            <a:ext cx="13731343" cy="1235182"/>
          </a:xfrm>
          <a:prstGeom prst="rect">
            <a:avLst/>
          </a:prstGeom>
        </p:spPr>
        <p:txBody>
          <a:bodyPr anchor="t" rtlCol="false" tIns="0" lIns="0" bIns="0" rIns="0">
            <a:spAutoFit/>
          </a:bodyPr>
          <a:lstStyle/>
          <a:p>
            <a:pPr algn="just">
              <a:lnSpc>
                <a:spcPts val="4858"/>
              </a:lnSpc>
            </a:pPr>
            <a:r>
              <a:rPr lang="en-US" sz="2841" spc="31">
                <a:solidFill>
                  <a:srgbClr val="FFFFFF"/>
                </a:solidFill>
                <a:latin typeface="Neo Tech"/>
                <a:ea typeface="Neo Tech"/>
                <a:cs typeface="Neo Tech"/>
                <a:sym typeface="Neo Tech"/>
              </a:rPr>
              <a:t>Bagaimana tren produksi, konsumsi, harga, ekspor, dan impor komoditas pangan utama di Indonesia pada tahun 2020–2024.</a:t>
            </a:r>
          </a:p>
        </p:txBody>
      </p:sp>
      <p:sp>
        <p:nvSpPr>
          <p:cNvPr name="TextBox 22" id="22"/>
          <p:cNvSpPr txBox="true"/>
          <p:nvPr/>
        </p:nvSpPr>
        <p:spPr>
          <a:xfrm rot="0">
            <a:off x="2418008" y="3691889"/>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1.</a:t>
            </a:r>
          </a:p>
        </p:txBody>
      </p:sp>
      <p:sp>
        <p:nvSpPr>
          <p:cNvPr name="TextBox 23" id="23"/>
          <p:cNvSpPr txBox="true"/>
          <p:nvPr/>
        </p:nvSpPr>
        <p:spPr>
          <a:xfrm rot="0">
            <a:off x="2427533" y="5029210"/>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2.</a:t>
            </a:r>
          </a:p>
        </p:txBody>
      </p:sp>
      <p:sp>
        <p:nvSpPr>
          <p:cNvPr name="TextBox 24" id="24"/>
          <p:cNvSpPr txBox="true"/>
          <p:nvPr/>
        </p:nvSpPr>
        <p:spPr>
          <a:xfrm rot="0">
            <a:off x="3255892" y="4792002"/>
            <a:ext cx="13166980" cy="1194034"/>
          </a:xfrm>
          <a:prstGeom prst="rect">
            <a:avLst/>
          </a:prstGeom>
        </p:spPr>
        <p:txBody>
          <a:bodyPr anchor="t" rtlCol="false" tIns="0" lIns="0" bIns="0" rIns="0">
            <a:spAutoFit/>
          </a:bodyPr>
          <a:lstStyle/>
          <a:p>
            <a:pPr algn="just">
              <a:lnSpc>
                <a:spcPts val="4687"/>
              </a:lnSpc>
            </a:pPr>
            <a:r>
              <a:rPr lang="en-US" sz="2741" spc="30">
                <a:solidFill>
                  <a:srgbClr val="FFFFFF"/>
                </a:solidFill>
                <a:latin typeface="Neo Tech"/>
                <a:ea typeface="Neo Tech"/>
                <a:cs typeface="Neo Tech"/>
                <a:sym typeface="Neo Tech"/>
              </a:rPr>
              <a:t>Bagaimana fluktuasi harga bahan pangan dalam periode 2021–2024 dan faktor mana (produksi, konsumsi, ekspor, impor) yang paling mempengaruhinya?</a:t>
            </a:r>
          </a:p>
        </p:txBody>
      </p:sp>
      <p:sp>
        <p:nvSpPr>
          <p:cNvPr name="TextBox 25" id="25"/>
          <p:cNvSpPr txBox="true"/>
          <p:nvPr/>
        </p:nvSpPr>
        <p:spPr>
          <a:xfrm rot="0">
            <a:off x="3255892" y="6021314"/>
            <a:ext cx="12375509" cy="1327004"/>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Kebijakan apa yang dapat direkomendasikan berdasarkan integrasi data tersebut untuk meningkatkan kestabilan pangan di Indonesia?</a:t>
            </a:r>
          </a:p>
        </p:txBody>
      </p:sp>
      <p:sp>
        <p:nvSpPr>
          <p:cNvPr name="Freeform 26" id="26"/>
          <p:cNvSpPr/>
          <p:nvPr/>
        </p:nvSpPr>
        <p:spPr>
          <a:xfrm flipH="false" flipV="false" rot="0">
            <a:off x="2251092" y="6230864"/>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TextBox 27" id="27"/>
          <p:cNvSpPr txBox="true"/>
          <p:nvPr/>
        </p:nvSpPr>
        <p:spPr>
          <a:xfrm rot="0">
            <a:off x="2427533" y="6301212"/>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3.</a:t>
            </a:r>
          </a:p>
        </p:txBody>
      </p:sp>
      <p:sp>
        <p:nvSpPr>
          <p:cNvPr name="Freeform 28" id="28"/>
          <p:cNvSpPr/>
          <p:nvPr/>
        </p:nvSpPr>
        <p:spPr>
          <a:xfrm flipH="false" flipV="false" rot="0">
            <a:off x="1726322" y="775087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14148677" y="775087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251092" y="3645181"/>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Freeform 19" id="19"/>
          <p:cNvSpPr/>
          <p:nvPr/>
        </p:nvSpPr>
        <p:spPr>
          <a:xfrm flipH="false" flipV="false" rot="0">
            <a:off x="2251092" y="4710850"/>
            <a:ext cx="865301" cy="865301"/>
          </a:xfrm>
          <a:custGeom>
            <a:avLst/>
            <a:gdLst/>
            <a:ahLst/>
            <a:cxnLst/>
            <a:rect r="r" b="b" t="t" l="l"/>
            <a:pathLst>
              <a:path h="865301" w="865301">
                <a:moveTo>
                  <a:pt x="0" y="0"/>
                </a:moveTo>
                <a:lnTo>
                  <a:pt x="865301" y="0"/>
                </a:lnTo>
                <a:lnTo>
                  <a:pt x="865301" y="865300"/>
                </a:lnTo>
                <a:lnTo>
                  <a:pt x="0" y="865300"/>
                </a:lnTo>
                <a:lnTo>
                  <a:pt x="0" y="0"/>
                </a:lnTo>
                <a:close/>
              </a:path>
            </a:pathLst>
          </a:custGeom>
          <a:blipFill>
            <a:blip r:embed="rId7"/>
            <a:stretch>
              <a:fillRect l="0" t="0" r="0" b="0"/>
            </a:stretch>
          </a:blipFill>
        </p:spPr>
      </p:sp>
      <p:sp>
        <p:nvSpPr>
          <p:cNvPr name="TextBox 20" id="20"/>
          <p:cNvSpPr txBox="true"/>
          <p:nvPr/>
        </p:nvSpPr>
        <p:spPr>
          <a:xfrm rot="0">
            <a:off x="7905839" y="2278877"/>
            <a:ext cx="2745299" cy="1037505"/>
          </a:xfrm>
          <a:prstGeom prst="rect">
            <a:avLst/>
          </a:prstGeom>
        </p:spPr>
        <p:txBody>
          <a:bodyPr anchor="t" rtlCol="false" tIns="0" lIns="0" bIns="0" rIns="0">
            <a:spAutoFit/>
          </a:bodyPr>
          <a:lstStyle/>
          <a:p>
            <a:pPr algn="ctr">
              <a:lnSpc>
                <a:spcPts val="7394"/>
              </a:lnSpc>
            </a:pPr>
            <a:r>
              <a:rPr lang="en-US" b="true" sz="5776">
                <a:solidFill>
                  <a:srgbClr val="FFFFFF"/>
                </a:solidFill>
                <a:latin typeface="Neo Tech Bold"/>
                <a:ea typeface="Neo Tech Bold"/>
                <a:cs typeface="Neo Tech Bold"/>
                <a:sym typeface="Neo Tech Bold"/>
              </a:rPr>
              <a:t>TUJUAN</a:t>
            </a:r>
          </a:p>
        </p:txBody>
      </p:sp>
      <p:sp>
        <p:nvSpPr>
          <p:cNvPr name="TextBox 21" id="21"/>
          <p:cNvSpPr txBox="true"/>
          <p:nvPr/>
        </p:nvSpPr>
        <p:spPr>
          <a:xfrm rot="0">
            <a:off x="3255892" y="3638168"/>
            <a:ext cx="13356246" cy="669779"/>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 Memberikan informasi komprehensif terkait kondisi ekonomi nasional</a:t>
            </a:r>
          </a:p>
        </p:txBody>
      </p:sp>
      <p:sp>
        <p:nvSpPr>
          <p:cNvPr name="TextBox 22" id="22"/>
          <p:cNvSpPr txBox="true"/>
          <p:nvPr/>
        </p:nvSpPr>
        <p:spPr>
          <a:xfrm rot="0">
            <a:off x="2418008" y="3691889"/>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1.</a:t>
            </a:r>
          </a:p>
        </p:txBody>
      </p:sp>
      <p:sp>
        <p:nvSpPr>
          <p:cNvPr name="TextBox 23" id="23"/>
          <p:cNvSpPr txBox="true"/>
          <p:nvPr/>
        </p:nvSpPr>
        <p:spPr>
          <a:xfrm rot="0">
            <a:off x="2427533" y="4757557"/>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2.</a:t>
            </a:r>
          </a:p>
        </p:txBody>
      </p:sp>
      <p:sp>
        <p:nvSpPr>
          <p:cNvPr name="TextBox 24" id="24"/>
          <p:cNvSpPr txBox="true"/>
          <p:nvPr/>
        </p:nvSpPr>
        <p:spPr>
          <a:xfrm rot="0">
            <a:off x="3255892" y="4703836"/>
            <a:ext cx="13166980" cy="1327004"/>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Mengintegrasikan data Produksi, Konsumsi, Harga, Ekspor, Impor, dan Indeks Ketahanan Pangan</a:t>
            </a:r>
          </a:p>
        </p:txBody>
      </p:sp>
      <p:sp>
        <p:nvSpPr>
          <p:cNvPr name="TextBox 25" id="25"/>
          <p:cNvSpPr txBox="true"/>
          <p:nvPr/>
        </p:nvSpPr>
        <p:spPr>
          <a:xfrm rot="0">
            <a:off x="3255892" y="6223850"/>
            <a:ext cx="12375509" cy="1984229"/>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Memperkuat ketersediaan, kualitas, dan layanan data statistik nasional agar dapat digunakan oleh regulator, akademisi, pelaku usaha, dan masyarakat.</a:t>
            </a:r>
          </a:p>
        </p:txBody>
      </p:sp>
      <p:sp>
        <p:nvSpPr>
          <p:cNvPr name="Freeform 26" id="26"/>
          <p:cNvSpPr/>
          <p:nvPr/>
        </p:nvSpPr>
        <p:spPr>
          <a:xfrm flipH="false" flipV="false" rot="0">
            <a:off x="2251092" y="6230864"/>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TextBox 27" id="27"/>
          <p:cNvSpPr txBox="true"/>
          <p:nvPr/>
        </p:nvSpPr>
        <p:spPr>
          <a:xfrm rot="0">
            <a:off x="2427533" y="6301212"/>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3.</a:t>
            </a:r>
          </a:p>
        </p:txBody>
      </p:sp>
      <p:sp>
        <p:nvSpPr>
          <p:cNvPr name="Freeform 28" id="28"/>
          <p:cNvSpPr/>
          <p:nvPr/>
        </p:nvSpPr>
        <p:spPr>
          <a:xfrm flipH="false" flipV="false" rot="0">
            <a:off x="1726322" y="775087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14148677" y="775087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251092" y="3645181"/>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Freeform 19" id="19"/>
          <p:cNvSpPr/>
          <p:nvPr/>
        </p:nvSpPr>
        <p:spPr>
          <a:xfrm flipH="false" flipV="false" rot="0">
            <a:off x="2251092" y="5120786"/>
            <a:ext cx="865301" cy="865301"/>
          </a:xfrm>
          <a:custGeom>
            <a:avLst/>
            <a:gdLst/>
            <a:ahLst/>
            <a:cxnLst/>
            <a:rect r="r" b="b" t="t" l="l"/>
            <a:pathLst>
              <a:path h="865301" w="865301">
                <a:moveTo>
                  <a:pt x="0" y="0"/>
                </a:moveTo>
                <a:lnTo>
                  <a:pt x="865301" y="0"/>
                </a:lnTo>
                <a:lnTo>
                  <a:pt x="865301" y="865300"/>
                </a:lnTo>
                <a:lnTo>
                  <a:pt x="0" y="865300"/>
                </a:lnTo>
                <a:lnTo>
                  <a:pt x="0" y="0"/>
                </a:lnTo>
                <a:close/>
              </a:path>
            </a:pathLst>
          </a:custGeom>
          <a:blipFill>
            <a:blip r:embed="rId7"/>
            <a:stretch>
              <a:fillRect l="0" t="0" r="0" b="0"/>
            </a:stretch>
          </a:blipFill>
        </p:spPr>
      </p:sp>
      <p:sp>
        <p:nvSpPr>
          <p:cNvPr name="TextBox 20" id="20"/>
          <p:cNvSpPr txBox="true"/>
          <p:nvPr/>
        </p:nvSpPr>
        <p:spPr>
          <a:xfrm rot="0">
            <a:off x="7472985" y="2278877"/>
            <a:ext cx="3611007" cy="1037505"/>
          </a:xfrm>
          <a:prstGeom prst="rect">
            <a:avLst/>
          </a:prstGeom>
        </p:spPr>
        <p:txBody>
          <a:bodyPr anchor="t" rtlCol="false" tIns="0" lIns="0" bIns="0" rIns="0">
            <a:spAutoFit/>
          </a:bodyPr>
          <a:lstStyle/>
          <a:p>
            <a:pPr algn="ctr">
              <a:lnSpc>
                <a:spcPts val="7394"/>
              </a:lnSpc>
            </a:pPr>
            <a:r>
              <a:rPr lang="en-US" b="true" sz="5776">
                <a:solidFill>
                  <a:srgbClr val="FFFFFF"/>
                </a:solidFill>
                <a:latin typeface="Neo Tech Bold"/>
                <a:ea typeface="Neo Tech Bold"/>
                <a:cs typeface="Neo Tech Bold"/>
                <a:sym typeface="Neo Tech Bold"/>
              </a:rPr>
              <a:t>MANFAAT</a:t>
            </a:r>
          </a:p>
        </p:txBody>
      </p:sp>
      <p:sp>
        <p:nvSpPr>
          <p:cNvPr name="TextBox 21" id="21"/>
          <p:cNvSpPr txBox="true"/>
          <p:nvPr/>
        </p:nvSpPr>
        <p:spPr>
          <a:xfrm rot="0">
            <a:off x="3350525" y="3640233"/>
            <a:ext cx="13356246" cy="1327004"/>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Sebagai acuan penyusunan kebijakan pangan, produksi, distribusi, dan konsumsi.</a:t>
            </a:r>
          </a:p>
        </p:txBody>
      </p:sp>
      <p:sp>
        <p:nvSpPr>
          <p:cNvPr name="TextBox 22" id="22"/>
          <p:cNvSpPr txBox="true"/>
          <p:nvPr/>
        </p:nvSpPr>
        <p:spPr>
          <a:xfrm rot="0">
            <a:off x="2418008" y="3691889"/>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1.</a:t>
            </a:r>
          </a:p>
        </p:txBody>
      </p:sp>
      <p:sp>
        <p:nvSpPr>
          <p:cNvPr name="TextBox 23" id="23"/>
          <p:cNvSpPr txBox="true"/>
          <p:nvPr/>
        </p:nvSpPr>
        <p:spPr>
          <a:xfrm rot="0">
            <a:off x="2427533" y="5167493"/>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2.</a:t>
            </a:r>
          </a:p>
        </p:txBody>
      </p:sp>
      <p:sp>
        <p:nvSpPr>
          <p:cNvPr name="TextBox 24" id="24"/>
          <p:cNvSpPr txBox="true"/>
          <p:nvPr/>
        </p:nvSpPr>
        <p:spPr>
          <a:xfrm rot="0">
            <a:off x="3350525" y="5138918"/>
            <a:ext cx="13166980" cy="669779"/>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Memperkuat sistem informasi pangan nasional</a:t>
            </a:r>
          </a:p>
        </p:txBody>
      </p:sp>
      <p:sp>
        <p:nvSpPr>
          <p:cNvPr name="TextBox 25" id="25"/>
          <p:cNvSpPr txBox="true"/>
          <p:nvPr/>
        </p:nvSpPr>
        <p:spPr>
          <a:xfrm rot="0">
            <a:off x="3255892" y="6223850"/>
            <a:ext cx="12375509" cy="669779"/>
          </a:xfrm>
          <a:prstGeom prst="rect">
            <a:avLst/>
          </a:prstGeom>
        </p:spPr>
        <p:txBody>
          <a:bodyPr anchor="t" rtlCol="false" tIns="0" lIns="0" bIns="0" rIns="0">
            <a:spAutoFit/>
          </a:bodyPr>
          <a:lstStyle/>
          <a:p>
            <a:pPr algn="l">
              <a:lnSpc>
                <a:spcPts val="5200"/>
              </a:lnSpc>
            </a:pPr>
            <a:r>
              <a:rPr lang="en-US" sz="3041" spc="33">
                <a:solidFill>
                  <a:srgbClr val="FFFFFF"/>
                </a:solidFill>
                <a:latin typeface="Neo Tech"/>
                <a:ea typeface="Neo Tech"/>
                <a:cs typeface="Neo Tech"/>
                <a:sym typeface="Neo Tech"/>
              </a:rPr>
              <a:t>Mendukung perencanaan ketahanan pangan nasional</a:t>
            </a:r>
          </a:p>
        </p:txBody>
      </p:sp>
      <p:sp>
        <p:nvSpPr>
          <p:cNvPr name="Freeform 26" id="26"/>
          <p:cNvSpPr/>
          <p:nvPr/>
        </p:nvSpPr>
        <p:spPr>
          <a:xfrm flipH="false" flipV="false" rot="0">
            <a:off x="2251092" y="6230864"/>
            <a:ext cx="865301" cy="865301"/>
          </a:xfrm>
          <a:custGeom>
            <a:avLst/>
            <a:gdLst/>
            <a:ahLst/>
            <a:cxnLst/>
            <a:rect r="r" b="b" t="t" l="l"/>
            <a:pathLst>
              <a:path h="865301" w="865301">
                <a:moveTo>
                  <a:pt x="0" y="0"/>
                </a:moveTo>
                <a:lnTo>
                  <a:pt x="865301" y="0"/>
                </a:lnTo>
                <a:lnTo>
                  <a:pt x="865301" y="865301"/>
                </a:lnTo>
                <a:lnTo>
                  <a:pt x="0" y="865301"/>
                </a:lnTo>
                <a:lnTo>
                  <a:pt x="0" y="0"/>
                </a:lnTo>
                <a:close/>
              </a:path>
            </a:pathLst>
          </a:custGeom>
          <a:blipFill>
            <a:blip r:embed="rId7"/>
            <a:stretch>
              <a:fillRect l="0" t="0" r="0" b="0"/>
            </a:stretch>
          </a:blipFill>
        </p:spPr>
      </p:sp>
      <p:sp>
        <p:nvSpPr>
          <p:cNvPr name="TextBox 27" id="27"/>
          <p:cNvSpPr txBox="true"/>
          <p:nvPr/>
        </p:nvSpPr>
        <p:spPr>
          <a:xfrm rot="0">
            <a:off x="2427533" y="6301212"/>
            <a:ext cx="531468" cy="590911"/>
          </a:xfrm>
          <a:prstGeom prst="rect">
            <a:avLst/>
          </a:prstGeom>
        </p:spPr>
        <p:txBody>
          <a:bodyPr anchor="t" rtlCol="false" tIns="0" lIns="0" bIns="0" rIns="0">
            <a:spAutoFit/>
          </a:bodyPr>
          <a:lstStyle/>
          <a:p>
            <a:pPr algn="ctr">
              <a:lnSpc>
                <a:spcPts val="4516"/>
              </a:lnSpc>
            </a:pPr>
            <a:r>
              <a:rPr lang="en-US" b="true" sz="2641" spc="29">
                <a:solidFill>
                  <a:srgbClr val="FFFFFF"/>
                </a:solidFill>
                <a:latin typeface="Neo Tech Bold"/>
                <a:ea typeface="Neo Tech Bold"/>
                <a:cs typeface="Neo Tech Bold"/>
                <a:sym typeface="Neo Tech Bold"/>
              </a:rPr>
              <a:t>3.</a:t>
            </a:r>
          </a:p>
        </p:txBody>
      </p:sp>
      <p:sp>
        <p:nvSpPr>
          <p:cNvPr name="Freeform 28" id="28"/>
          <p:cNvSpPr/>
          <p:nvPr/>
        </p:nvSpPr>
        <p:spPr>
          <a:xfrm flipH="false" flipV="false" rot="0">
            <a:off x="1726322" y="775087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14148677" y="7750879"/>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618764" y="3267808"/>
            <a:ext cx="7835311" cy="6473925"/>
          </a:xfrm>
          <a:custGeom>
            <a:avLst/>
            <a:gdLst/>
            <a:ahLst/>
            <a:cxnLst/>
            <a:rect r="r" b="b" t="t" l="l"/>
            <a:pathLst>
              <a:path h="6473925" w="7835311">
                <a:moveTo>
                  <a:pt x="0" y="0"/>
                </a:moveTo>
                <a:lnTo>
                  <a:pt x="7835311" y="0"/>
                </a:lnTo>
                <a:lnTo>
                  <a:pt x="7835311" y="6473926"/>
                </a:lnTo>
                <a:lnTo>
                  <a:pt x="0" y="6473926"/>
                </a:lnTo>
                <a:lnTo>
                  <a:pt x="0" y="0"/>
                </a:lnTo>
                <a:close/>
              </a:path>
            </a:pathLst>
          </a:custGeom>
          <a:blipFill>
            <a:blip r:embed="rId7"/>
            <a:stretch>
              <a:fillRect l="0" t="0" r="0" b="0"/>
            </a:stretch>
          </a:blipFill>
        </p:spPr>
      </p:sp>
      <p:sp>
        <p:nvSpPr>
          <p:cNvPr name="TextBox 15" id="15"/>
          <p:cNvSpPr txBox="true"/>
          <p:nvPr/>
        </p:nvSpPr>
        <p:spPr>
          <a:xfrm rot="0">
            <a:off x="7641332" y="2269352"/>
            <a:ext cx="3005336" cy="99845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PIPELINE</a:t>
            </a:r>
          </a:p>
        </p:txBody>
      </p:sp>
      <p:sp>
        <p:nvSpPr>
          <p:cNvPr name="TextBox 16" id="16"/>
          <p:cNvSpPr txBox="true"/>
          <p:nvPr/>
        </p:nvSpPr>
        <p:spPr>
          <a:xfrm rot="0">
            <a:off x="9398520" y="4162828"/>
            <a:ext cx="8221365" cy="3601720"/>
          </a:xfrm>
          <a:prstGeom prst="rect">
            <a:avLst/>
          </a:prstGeom>
        </p:spPr>
        <p:txBody>
          <a:bodyPr anchor="t" rtlCol="false" tIns="0" lIns="0" bIns="0" rIns="0">
            <a:spAutoFit/>
          </a:bodyPr>
          <a:lstStyle/>
          <a:p>
            <a:pPr algn="just">
              <a:lnSpc>
                <a:spcPts val="3079"/>
              </a:lnSpc>
              <a:spcBef>
                <a:spcPct val="0"/>
              </a:spcBef>
            </a:pPr>
            <a:r>
              <a:rPr lang="en-US" b="true" sz="2199">
                <a:solidFill>
                  <a:srgbClr val="FFFFFF"/>
                </a:solidFill>
                <a:latin typeface="Neo Tech Bold"/>
                <a:ea typeface="Neo Tech Bold"/>
                <a:cs typeface="Neo Tech Bold"/>
                <a:sym typeface="Neo Tech Bold"/>
              </a:rPr>
              <a:t>Int</a:t>
            </a:r>
            <a:r>
              <a:rPr lang="en-US" b="true" sz="2199">
                <a:solidFill>
                  <a:srgbClr val="FFFFFF"/>
                </a:solidFill>
                <a:latin typeface="Neo Tech Bold"/>
                <a:ea typeface="Neo Tech Bold"/>
                <a:cs typeface="Neo Tech Bold"/>
                <a:sym typeface="Neo Tech Bold"/>
              </a:rPr>
              <a:t>egrasi data pangan pokok Indonesia dimulai dari perumusan masalah dan tujuan, yaitu menjelaskan urgensi kestabilan pangan pokok nasional serta menetapkan tujuan analisis. Data diperoleh dari berbagai sumber seperti BPS, kementerian, dan publikasi resmi lainnya. Setelah data terintegrasi, dilakukan Exploratory Data Analysis (EDA) untuk memperoleh gambaran awal melalui statistik deskriptif, grafik tren nasional dan provinsi, serta opsi visualisasi peta sebaran provinsi menggunakan GeoJSON.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5690741" y="2269352"/>
            <a:ext cx="6906518" cy="99845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PROSES WRANGLING</a:t>
            </a:r>
          </a:p>
        </p:txBody>
      </p:sp>
      <p:sp>
        <p:nvSpPr>
          <p:cNvPr name="TextBox 19" id="19"/>
          <p:cNvSpPr txBox="true"/>
          <p:nvPr/>
        </p:nvSpPr>
        <p:spPr>
          <a:xfrm rot="0">
            <a:off x="1636578" y="3436426"/>
            <a:ext cx="12115003" cy="4153727"/>
          </a:xfrm>
          <a:prstGeom prst="rect">
            <a:avLst/>
          </a:prstGeom>
        </p:spPr>
        <p:txBody>
          <a:bodyPr anchor="t" rtlCol="false" tIns="0" lIns="0" bIns="0" rIns="0">
            <a:spAutoFit/>
          </a:bodyPr>
          <a:lstStyle/>
          <a:p>
            <a:pPr algn="just" marL="856890" indent="-428445" lvl="1">
              <a:lnSpc>
                <a:spcPts val="5556"/>
              </a:lnSpc>
              <a:buFont typeface="Arial"/>
              <a:buChar char="•"/>
            </a:pPr>
            <a:r>
              <a:rPr lang="en-US" b="true" sz="3968">
                <a:solidFill>
                  <a:srgbClr val="FFFFFF"/>
                </a:solidFill>
                <a:latin typeface="Open Sans Bold"/>
                <a:ea typeface="Open Sans Bold"/>
                <a:cs typeface="Open Sans Bold"/>
                <a:sym typeface="Open Sans Bold"/>
              </a:rPr>
              <a:t>T</a:t>
            </a:r>
            <a:r>
              <a:rPr lang="en-US" b="true" sz="3968">
                <a:solidFill>
                  <a:srgbClr val="FFFFFF"/>
                </a:solidFill>
                <a:latin typeface="Open Sans Bold"/>
                <a:ea typeface="Open Sans Bold"/>
                <a:cs typeface="Open Sans Bold"/>
                <a:sym typeface="Open Sans Bold"/>
              </a:rPr>
              <a:t>eknik Pengambilan Data</a:t>
            </a:r>
          </a:p>
          <a:p>
            <a:pPr algn="just" marL="856890" indent="-428445" lvl="1">
              <a:lnSpc>
                <a:spcPts val="5556"/>
              </a:lnSpc>
              <a:buFont typeface="Arial"/>
              <a:buChar char="•"/>
            </a:pPr>
            <a:r>
              <a:rPr lang="en-US" b="true" sz="3968">
                <a:solidFill>
                  <a:srgbClr val="FFFFFF"/>
                </a:solidFill>
                <a:latin typeface="Open Sans Bold"/>
                <a:ea typeface="Open Sans Bold"/>
                <a:cs typeface="Open Sans Bold"/>
                <a:sym typeface="Open Sans Bold"/>
              </a:rPr>
              <a:t>Data Cleaning</a:t>
            </a:r>
          </a:p>
          <a:p>
            <a:pPr algn="just" marL="856890" indent="-428445" lvl="1">
              <a:lnSpc>
                <a:spcPts val="5556"/>
              </a:lnSpc>
              <a:buFont typeface="Arial"/>
              <a:buChar char="•"/>
            </a:pPr>
            <a:r>
              <a:rPr lang="en-US" b="true" sz="3968">
                <a:solidFill>
                  <a:srgbClr val="FFFFFF"/>
                </a:solidFill>
                <a:latin typeface="Open Sans Bold"/>
                <a:ea typeface="Open Sans Bold"/>
                <a:cs typeface="Open Sans Bold"/>
                <a:sym typeface="Open Sans Bold"/>
              </a:rPr>
              <a:t>Data Wrangling (Transformasi &amp; Rekalkulasi)</a:t>
            </a:r>
          </a:p>
          <a:p>
            <a:pPr algn="just" marL="856890" indent="-428445" lvl="1">
              <a:lnSpc>
                <a:spcPts val="5556"/>
              </a:lnSpc>
              <a:buFont typeface="Arial"/>
              <a:buChar char="•"/>
            </a:pPr>
            <a:r>
              <a:rPr lang="en-US" b="true" sz="3968">
                <a:solidFill>
                  <a:srgbClr val="FFFFFF"/>
                </a:solidFill>
                <a:latin typeface="Open Sans Bold"/>
                <a:ea typeface="Open Sans Bold"/>
                <a:cs typeface="Open Sans Bold"/>
                <a:sym typeface="Open Sans Bold"/>
              </a:rPr>
              <a:t>Exploratory Data &amp; Analysis</a:t>
            </a:r>
          </a:p>
          <a:p>
            <a:pPr algn="just" marL="856890" indent="-428445" lvl="1">
              <a:lnSpc>
                <a:spcPts val="5556"/>
              </a:lnSpc>
              <a:buFont typeface="Arial"/>
              <a:buChar char="•"/>
            </a:pPr>
            <a:r>
              <a:rPr lang="en-US" b="true" sz="3968">
                <a:solidFill>
                  <a:srgbClr val="FFFFFF"/>
                </a:solidFill>
                <a:latin typeface="Open Sans Bold"/>
                <a:ea typeface="Open Sans Bold"/>
                <a:cs typeface="Open Sans Bold"/>
                <a:sym typeface="Open Sans Bold"/>
              </a:rPr>
              <a:t>Publishing Data</a:t>
            </a:r>
          </a:p>
          <a:p>
            <a:pPr algn="just" marL="856890" indent="-428445" lvl="1">
              <a:lnSpc>
                <a:spcPts val="5556"/>
              </a:lnSpc>
              <a:buFont typeface="Arial"/>
              <a:buChar char="•"/>
            </a:pPr>
            <a:r>
              <a:rPr lang="en-US" b="true" sz="3968">
                <a:solidFill>
                  <a:srgbClr val="FFFFFF"/>
                </a:solidFill>
                <a:latin typeface="Open Sans Bold"/>
                <a:ea typeface="Open Sans Bold"/>
                <a:cs typeface="Open Sans Bold"/>
                <a:sym typeface="Open Sans Bold"/>
              </a:rPr>
              <a:t>Flowchart dan Pipeline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1028700" y="3941467"/>
            <a:ext cx="16230600" cy="4219956"/>
          </a:xfrm>
          <a:custGeom>
            <a:avLst/>
            <a:gdLst/>
            <a:ahLst/>
            <a:cxnLst/>
            <a:rect r="r" b="b" t="t" l="l"/>
            <a:pathLst>
              <a:path h="4219956" w="16230600">
                <a:moveTo>
                  <a:pt x="0" y="0"/>
                </a:moveTo>
                <a:lnTo>
                  <a:pt x="16230600" y="0"/>
                </a:lnTo>
                <a:lnTo>
                  <a:pt x="16230600" y="4219956"/>
                </a:lnTo>
                <a:lnTo>
                  <a:pt x="0" y="4219956"/>
                </a:lnTo>
                <a:lnTo>
                  <a:pt x="0" y="0"/>
                </a:lnTo>
                <a:close/>
              </a:path>
            </a:pathLst>
          </a:custGeom>
          <a:blipFill>
            <a:blip r:embed="rId7"/>
            <a:stretch>
              <a:fillRect l="0" t="0" r="0" b="0"/>
            </a:stretch>
          </a:blipFill>
        </p:spPr>
      </p:sp>
      <p:sp>
        <p:nvSpPr>
          <p:cNvPr name="TextBox 19" id="19"/>
          <p:cNvSpPr txBox="true"/>
          <p:nvPr/>
        </p:nvSpPr>
        <p:spPr>
          <a:xfrm rot="0">
            <a:off x="7056016" y="2269352"/>
            <a:ext cx="4175968" cy="99210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FLOWCHART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2126531" y="1735839"/>
            <a:ext cx="14034939" cy="99210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TEKNIK </a:t>
            </a:r>
            <a:r>
              <a:rPr lang="en-US" b="true" sz="5476">
                <a:solidFill>
                  <a:srgbClr val="FFFFFF"/>
                </a:solidFill>
                <a:latin typeface="Neo Tech Bold"/>
                <a:ea typeface="Neo Tech Bold"/>
                <a:cs typeface="Neo Tech Bold"/>
                <a:sym typeface="Neo Tech Bold"/>
              </a:rPr>
              <a:t>PENGAMBILAN &amp; INTEGRASI DATA</a:t>
            </a:r>
          </a:p>
        </p:txBody>
      </p:sp>
      <p:sp>
        <p:nvSpPr>
          <p:cNvPr name="TextBox 19" id="19"/>
          <p:cNvSpPr txBox="true"/>
          <p:nvPr/>
        </p:nvSpPr>
        <p:spPr>
          <a:xfrm rot="0">
            <a:off x="2693829" y="3244579"/>
            <a:ext cx="11625050" cy="5144657"/>
          </a:xfrm>
          <a:prstGeom prst="rect">
            <a:avLst/>
          </a:prstGeom>
        </p:spPr>
        <p:txBody>
          <a:bodyPr anchor="t" rtlCol="false" tIns="0" lIns="0" bIns="0" rIns="0">
            <a:spAutoFit/>
          </a:bodyPr>
          <a:lstStyle/>
          <a:p>
            <a:pPr algn="just" marL="795435" indent="-397717" lvl="1">
              <a:lnSpc>
                <a:spcPts val="5157"/>
              </a:lnSpc>
              <a:buFont typeface="Arial"/>
              <a:buChar char="•"/>
            </a:pPr>
            <a:r>
              <a:rPr lang="en-US" b="true" sz="3684">
                <a:solidFill>
                  <a:srgbClr val="FFFFFF"/>
                </a:solidFill>
                <a:latin typeface="Open Sans Bold"/>
                <a:ea typeface="Open Sans Bold"/>
                <a:cs typeface="Open Sans Bold"/>
                <a:sym typeface="Open Sans Bold"/>
              </a:rPr>
              <a:t>Sumber data (BPS, PIHPS, Bapanas, KMENDAG)</a:t>
            </a:r>
          </a:p>
          <a:p>
            <a:pPr algn="just" marL="795435" indent="-397717" lvl="1">
              <a:lnSpc>
                <a:spcPts val="5157"/>
              </a:lnSpc>
              <a:buFont typeface="Arial"/>
              <a:buChar char="•"/>
            </a:pPr>
            <a:r>
              <a:rPr lang="en-US" b="true" sz="3684">
                <a:solidFill>
                  <a:srgbClr val="FFFFFF"/>
                </a:solidFill>
                <a:latin typeface="Open Sans Bold"/>
                <a:ea typeface="Open Sans Bold"/>
                <a:cs typeface="Open Sans Bold"/>
                <a:sym typeface="Open Sans Bold"/>
              </a:rPr>
              <a:t>Format data: Excel, CSV</a:t>
            </a:r>
          </a:p>
          <a:p>
            <a:pPr algn="just" marL="795435" indent="-397717" lvl="1">
              <a:lnSpc>
                <a:spcPts val="5157"/>
              </a:lnSpc>
              <a:buFont typeface="Arial"/>
              <a:buChar char="•"/>
            </a:pPr>
            <a:r>
              <a:rPr lang="en-US" b="true" sz="3684">
                <a:solidFill>
                  <a:srgbClr val="FFFFFF"/>
                </a:solidFill>
                <a:latin typeface="Open Sans Bold"/>
                <a:ea typeface="Open Sans Bold"/>
                <a:cs typeface="Open Sans Bold"/>
                <a:sym typeface="Open Sans Bold"/>
              </a:rPr>
              <a:t>Normalisasi nama kolom</a:t>
            </a:r>
          </a:p>
          <a:p>
            <a:pPr algn="just" marL="795435" indent="-397717" lvl="1">
              <a:lnSpc>
                <a:spcPts val="5157"/>
              </a:lnSpc>
              <a:buFont typeface="Arial"/>
              <a:buChar char="•"/>
            </a:pPr>
            <a:r>
              <a:rPr lang="en-US" b="true" sz="3684">
                <a:solidFill>
                  <a:srgbClr val="FFFFFF"/>
                </a:solidFill>
                <a:latin typeface="Open Sans Bold"/>
                <a:ea typeface="Open Sans Bold"/>
                <a:cs typeface="Open Sans Bold"/>
                <a:sym typeface="Open Sans Bold"/>
              </a:rPr>
              <a:t>Konversi satuan (Ton, Kw/Ha, persen)</a:t>
            </a:r>
          </a:p>
          <a:p>
            <a:pPr algn="just" marL="795435" indent="-397717" lvl="1">
              <a:lnSpc>
                <a:spcPts val="5157"/>
              </a:lnSpc>
              <a:buFont typeface="Arial"/>
              <a:buChar char="•"/>
            </a:pPr>
            <a:r>
              <a:rPr lang="en-US" b="true" sz="3684">
                <a:solidFill>
                  <a:srgbClr val="FFFFFF"/>
                </a:solidFill>
                <a:latin typeface="Open Sans Bold"/>
                <a:ea typeface="Open Sans Bold"/>
                <a:cs typeface="Open Sans Bold"/>
                <a:sym typeface="Open Sans Bold"/>
              </a:rPr>
              <a:t>Merge berdasarkan Tahun &amp; Provinsi</a:t>
            </a:r>
          </a:p>
          <a:p>
            <a:pPr algn="just" marL="795435" indent="-397717" lvl="1">
              <a:lnSpc>
                <a:spcPts val="5157"/>
              </a:lnSpc>
              <a:buFont typeface="Arial"/>
              <a:buChar char="•"/>
            </a:pPr>
            <a:r>
              <a:rPr lang="en-US" b="true" sz="3684">
                <a:solidFill>
                  <a:srgbClr val="FFFFFF"/>
                </a:solidFill>
                <a:latin typeface="Open Sans Bold"/>
                <a:ea typeface="Open Sans Bold"/>
                <a:cs typeface="Open Sans Bold"/>
                <a:sym typeface="Open Sans Bold"/>
              </a:rPr>
              <a:t>Output akhir :</a:t>
            </a:r>
          </a:p>
          <a:p>
            <a:pPr algn="just" marL="795435" indent="-397717" lvl="1">
              <a:lnSpc>
                <a:spcPts val="5157"/>
              </a:lnSpc>
              <a:buAutoNum type="arabicPeriod" startAt="1"/>
            </a:pPr>
            <a:r>
              <a:rPr lang="en-US" b="true" sz="3684">
                <a:solidFill>
                  <a:srgbClr val="FFFFFF"/>
                </a:solidFill>
                <a:latin typeface="Open Sans Bold"/>
                <a:ea typeface="Open Sans Bold"/>
                <a:cs typeface="Open Sans Bold"/>
                <a:sym typeface="Open Sans Bold"/>
              </a:rPr>
              <a:t>17_Hasil_Wrangling_Nasional.csv</a:t>
            </a:r>
          </a:p>
          <a:p>
            <a:pPr algn="just" marL="795435" indent="-397717" lvl="1">
              <a:lnSpc>
                <a:spcPts val="5157"/>
              </a:lnSpc>
              <a:buAutoNum type="arabicPeriod" startAt="1"/>
            </a:pPr>
            <a:r>
              <a:rPr lang="en-US" b="true" sz="3684">
                <a:solidFill>
                  <a:srgbClr val="FFFFFF"/>
                </a:solidFill>
                <a:latin typeface="Open Sans Bold"/>
                <a:ea typeface="Open Sans Bold"/>
                <a:cs typeface="Open Sans Bold"/>
                <a:sym typeface="Open Sans Bold"/>
              </a:rPr>
              <a:t>17_Hasil_Wrangling_Provinsi.csv</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6479084" y="1735839"/>
            <a:ext cx="5329833" cy="99210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DATA CL</a:t>
            </a:r>
            <a:r>
              <a:rPr lang="en-US" b="true" sz="5476">
                <a:solidFill>
                  <a:srgbClr val="FFFFFF"/>
                </a:solidFill>
                <a:latin typeface="Neo Tech Bold"/>
                <a:ea typeface="Neo Tech Bold"/>
                <a:cs typeface="Neo Tech Bold"/>
                <a:sym typeface="Neo Tech Bold"/>
              </a:rPr>
              <a:t>EANING</a:t>
            </a:r>
          </a:p>
        </p:txBody>
      </p:sp>
      <p:sp>
        <p:nvSpPr>
          <p:cNvPr name="TextBox 19" id="19"/>
          <p:cNvSpPr txBox="true"/>
          <p:nvPr/>
        </p:nvSpPr>
        <p:spPr>
          <a:xfrm rot="0">
            <a:off x="2583238" y="3703112"/>
            <a:ext cx="12922202" cy="3891261"/>
          </a:xfrm>
          <a:prstGeom prst="rect">
            <a:avLst/>
          </a:prstGeom>
        </p:spPr>
        <p:txBody>
          <a:bodyPr anchor="t" rtlCol="false" tIns="0" lIns="0" bIns="0" rIns="0">
            <a:spAutoFit/>
          </a:bodyPr>
          <a:lstStyle/>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Menghapus duplikat</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Menangani missing value (ffill/interpolasi)</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Konversi tipe data</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Normalisasi nama provinsi</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Standardisasi format angka besar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493386" y="3810416"/>
            <a:ext cx="5683676" cy="4219524"/>
          </a:xfrm>
          <a:custGeom>
            <a:avLst/>
            <a:gdLst/>
            <a:ahLst/>
            <a:cxnLst/>
            <a:rect r="r" b="b" t="t" l="l"/>
            <a:pathLst>
              <a:path h="4219524" w="5683676">
                <a:moveTo>
                  <a:pt x="0" y="0"/>
                </a:moveTo>
                <a:lnTo>
                  <a:pt x="5683675" y="0"/>
                </a:lnTo>
                <a:lnTo>
                  <a:pt x="5683675" y="4219524"/>
                </a:lnTo>
                <a:lnTo>
                  <a:pt x="0" y="4219524"/>
                </a:lnTo>
                <a:lnTo>
                  <a:pt x="0" y="0"/>
                </a:lnTo>
                <a:close/>
              </a:path>
            </a:pathLst>
          </a:custGeom>
          <a:blipFill>
            <a:blip r:embed="rId7"/>
            <a:stretch>
              <a:fillRect l="0" t="0" r="0" b="0"/>
            </a:stretch>
          </a:blipFill>
        </p:spPr>
      </p:sp>
      <p:sp>
        <p:nvSpPr>
          <p:cNvPr name="Freeform 19" id="19"/>
          <p:cNvSpPr/>
          <p:nvPr/>
        </p:nvSpPr>
        <p:spPr>
          <a:xfrm flipH="false" flipV="false" rot="0">
            <a:off x="10105235" y="3081175"/>
            <a:ext cx="5164842" cy="5220860"/>
          </a:xfrm>
          <a:custGeom>
            <a:avLst/>
            <a:gdLst/>
            <a:ahLst/>
            <a:cxnLst/>
            <a:rect r="r" b="b" t="t" l="l"/>
            <a:pathLst>
              <a:path h="5220860" w="5164842">
                <a:moveTo>
                  <a:pt x="0" y="0"/>
                </a:moveTo>
                <a:lnTo>
                  <a:pt x="5164842" y="0"/>
                </a:lnTo>
                <a:lnTo>
                  <a:pt x="5164842" y="5220860"/>
                </a:lnTo>
                <a:lnTo>
                  <a:pt x="0" y="5220860"/>
                </a:lnTo>
                <a:lnTo>
                  <a:pt x="0" y="0"/>
                </a:lnTo>
                <a:close/>
              </a:path>
            </a:pathLst>
          </a:custGeom>
          <a:blipFill>
            <a:blip r:embed="rId8"/>
            <a:stretch>
              <a:fillRect l="0" t="0" r="0" b="0"/>
            </a:stretch>
          </a:blipFill>
        </p:spPr>
      </p:sp>
      <p:sp>
        <p:nvSpPr>
          <p:cNvPr name="TextBox 20" id="20"/>
          <p:cNvSpPr txBox="true"/>
          <p:nvPr/>
        </p:nvSpPr>
        <p:spPr>
          <a:xfrm rot="0">
            <a:off x="6479084" y="1735839"/>
            <a:ext cx="5329833" cy="99210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DATA CL</a:t>
            </a:r>
            <a:r>
              <a:rPr lang="en-US" b="true" sz="5476">
                <a:solidFill>
                  <a:srgbClr val="FFFFFF"/>
                </a:solidFill>
                <a:latin typeface="Neo Tech Bold"/>
                <a:ea typeface="Neo Tech Bold"/>
                <a:cs typeface="Neo Tech Bold"/>
                <a:sym typeface="Neo Tech Bold"/>
              </a:rPr>
              <a:t>EANING</a:t>
            </a:r>
          </a:p>
        </p:txBody>
      </p:sp>
      <p:sp>
        <p:nvSpPr>
          <p:cNvPr name="TextBox 21" id="21"/>
          <p:cNvSpPr txBox="true"/>
          <p:nvPr/>
        </p:nvSpPr>
        <p:spPr>
          <a:xfrm rot="0">
            <a:off x="1636578" y="3436426"/>
            <a:ext cx="856808" cy="671779"/>
          </a:xfrm>
          <a:prstGeom prst="rect">
            <a:avLst/>
          </a:prstGeom>
        </p:spPr>
        <p:txBody>
          <a:bodyPr anchor="t" rtlCol="false" tIns="0" lIns="0" bIns="0" rIns="0">
            <a:spAutoFit/>
          </a:bodyPr>
          <a:lstStyle/>
          <a:p>
            <a:pPr algn="just" marL="856890" indent="-428445" lvl="1">
              <a:lnSpc>
                <a:spcPts val="5556"/>
              </a:lnSpc>
              <a:buFont typeface="Arial"/>
              <a:buChar char="•"/>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4291918" y="4108205"/>
            <a:ext cx="10026961" cy="3408724"/>
          </a:xfrm>
          <a:custGeom>
            <a:avLst/>
            <a:gdLst/>
            <a:ahLst/>
            <a:cxnLst/>
            <a:rect r="r" b="b" t="t" l="l"/>
            <a:pathLst>
              <a:path h="3408724" w="10026961">
                <a:moveTo>
                  <a:pt x="0" y="0"/>
                </a:moveTo>
                <a:lnTo>
                  <a:pt x="10026961" y="0"/>
                </a:lnTo>
                <a:lnTo>
                  <a:pt x="10026961" y="3408724"/>
                </a:lnTo>
                <a:lnTo>
                  <a:pt x="0" y="3408724"/>
                </a:lnTo>
                <a:lnTo>
                  <a:pt x="0" y="0"/>
                </a:lnTo>
                <a:close/>
              </a:path>
            </a:pathLst>
          </a:custGeom>
          <a:blipFill>
            <a:blip r:embed="rId7"/>
            <a:stretch>
              <a:fillRect l="0" t="0" r="0" b="0"/>
            </a:stretch>
          </a:blipFill>
        </p:spPr>
      </p:sp>
      <p:sp>
        <p:nvSpPr>
          <p:cNvPr name="TextBox 19" id="19"/>
          <p:cNvSpPr txBox="true"/>
          <p:nvPr/>
        </p:nvSpPr>
        <p:spPr>
          <a:xfrm rot="0">
            <a:off x="6479084" y="1735839"/>
            <a:ext cx="5329833" cy="99210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DATA CL</a:t>
            </a:r>
            <a:r>
              <a:rPr lang="en-US" b="true" sz="5476">
                <a:solidFill>
                  <a:srgbClr val="FFFFFF"/>
                </a:solidFill>
                <a:latin typeface="Neo Tech Bold"/>
                <a:ea typeface="Neo Tech Bold"/>
                <a:cs typeface="Neo Tech Bold"/>
                <a:sym typeface="Neo Tech Bold"/>
              </a:rPr>
              <a:t>EANING</a:t>
            </a:r>
          </a:p>
        </p:txBody>
      </p:sp>
      <p:sp>
        <p:nvSpPr>
          <p:cNvPr name="TextBox 20" id="20"/>
          <p:cNvSpPr txBox="true"/>
          <p:nvPr/>
        </p:nvSpPr>
        <p:spPr>
          <a:xfrm rot="0">
            <a:off x="1636578" y="3436426"/>
            <a:ext cx="856808" cy="671779"/>
          </a:xfrm>
          <a:prstGeom prst="rect">
            <a:avLst/>
          </a:prstGeom>
        </p:spPr>
        <p:txBody>
          <a:bodyPr anchor="t" rtlCol="false" tIns="0" lIns="0" bIns="0" rIns="0">
            <a:spAutoFit/>
          </a:bodyPr>
          <a:lstStyle/>
          <a:p>
            <a:pPr algn="just" marL="856890" indent="-428445" lvl="1">
              <a:lnSpc>
                <a:spcPts val="5556"/>
              </a:lnSpc>
              <a:buFont typeface="Arial"/>
              <a:buChar char="•"/>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1267271" y="1548561"/>
            <a:ext cx="15753457" cy="992106"/>
          </a:xfrm>
          <a:prstGeom prst="rect">
            <a:avLst/>
          </a:prstGeom>
        </p:spPr>
        <p:txBody>
          <a:bodyPr anchor="t" rtlCol="false" tIns="0" lIns="0" bIns="0" rIns="0">
            <a:spAutoFit/>
          </a:bodyPr>
          <a:lstStyle/>
          <a:p>
            <a:pPr algn="ctr">
              <a:lnSpc>
                <a:spcPts val="7010"/>
              </a:lnSpc>
            </a:pPr>
            <a:r>
              <a:rPr lang="en-US" b="true" sz="5476">
                <a:solidFill>
                  <a:srgbClr val="FFFFFF"/>
                </a:solidFill>
                <a:latin typeface="Neo Tech Bold"/>
                <a:ea typeface="Neo Tech Bold"/>
                <a:cs typeface="Neo Tech Bold"/>
                <a:sym typeface="Neo Tech Bold"/>
              </a:rPr>
              <a:t>DATA</a:t>
            </a:r>
            <a:r>
              <a:rPr lang="en-US" b="true" sz="5476">
                <a:solidFill>
                  <a:srgbClr val="FFFFFF"/>
                </a:solidFill>
                <a:latin typeface="Neo Tech Bold"/>
                <a:ea typeface="Neo Tech Bold"/>
                <a:cs typeface="Neo Tech Bold"/>
                <a:sym typeface="Neo Tech Bold"/>
              </a:rPr>
              <a:t> WRANGLING (TRANSFORMASI VARIABEL)</a:t>
            </a:r>
          </a:p>
        </p:txBody>
      </p:sp>
      <p:sp>
        <p:nvSpPr>
          <p:cNvPr name="TextBox 19" id="19"/>
          <p:cNvSpPr txBox="true"/>
          <p:nvPr/>
        </p:nvSpPr>
        <p:spPr>
          <a:xfrm rot="0">
            <a:off x="3321136" y="3486363"/>
            <a:ext cx="11645728" cy="4675061"/>
          </a:xfrm>
          <a:prstGeom prst="rect">
            <a:avLst/>
          </a:prstGeom>
        </p:spPr>
        <p:txBody>
          <a:bodyPr anchor="t" rtlCol="false" tIns="0" lIns="0" bIns="0" rIns="0">
            <a:spAutoFit/>
          </a:bodyPr>
          <a:lstStyle/>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V</a:t>
            </a:r>
            <a:r>
              <a:rPr lang="en-US" b="true" sz="4467">
                <a:solidFill>
                  <a:srgbClr val="FFFFFF"/>
                </a:solidFill>
                <a:latin typeface="Open Sans Bold"/>
                <a:ea typeface="Open Sans Bold"/>
                <a:cs typeface="Open Sans Bold"/>
                <a:sym typeface="Open Sans Bold"/>
              </a:rPr>
              <a:t>ariabel baru:</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Surplus/Defisit = Produksi – Konsumsi</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Volatilitas Produksi</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Volatilitas Harga</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Ratio Ekspor–Impor</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Kategori Ketahanan Pangan Provinsi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6551267" y="1783464"/>
            <a:ext cx="5185465" cy="1402690"/>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PROSES WRANGLING</a:t>
            </a:r>
          </a:p>
          <a:p>
            <a:pPr algn="ctr">
              <a:lnSpc>
                <a:spcPts val="5263"/>
              </a:lnSpc>
            </a:pPr>
            <a:r>
              <a:rPr lang="en-US" b="true" sz="4112">
                <a:solidFill>
                  <a:srgbClr val="FFFFFF"/>
                </a:solidFill>
                <a:latin typeface="Neo Tech Bold"/>
                <a:ea typeface="Neo Tech Bold"/>
                <a:cs typeface="Neo Tech Bold"/>
                <a:sym typeface="Neo Tech Bold"/>
              </a:rPr>
              <a:t>IMPOR &amp; EKSPOR</a:t>
            </a:r>
          </a:p>
        </p:txBody>
      </p:sp>
      <p:sp>
        <p:nvSpPr>
          <p:cNvPr name="TextBox 19" id="19"/>
          <p:cNvSpPr txBox="true"/>
          <p:nvPr/>
        </p:nvSpPr>
        <p:spPr>
          <a:xfrm rot="0">
            <a:off x="4536419" y="3703112"/>
            <a:ext cx="9194954" cy="3891261"/>
          </a:xfrm>
          <a:prstGeom prst="rect">
            <a:avLst/>
          </a:prstGeom>
        </p:spPr>
        <p:txBody>
          <a:bodyPr anchor="t" rtlCol="false" tIns="0" lIns="0" bIns="0" rIns="0">
            <a:spAutoFit/>
          </a:bodyPr>
          <a:lstStyle/>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V</a:t>
            </a:r>
            <a:r>
              <a:rPr lang="en-US" b="true" sz="4467">
                <a:solidFill>
                  <a:srgbClr val="FFFFFF"/>
                </a:solidFill>
                <a:latin typeface="Open Sans Bold"/>
                <a:ea typeface="Open Sans Bold"/>
                <a:cs typeface="Open Sans Bold"/>
                <a:sym typeface="Open Sans Bold"/>
              </a:rPr>
              <a:t>isualisasi yang ditampilkan:</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Tren Impor Beras</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Tren Ekspor Beras</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Ekspor vs Impor</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Neraca Perdagangan Beras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3017923" y="3581708"/>
            <a:ext cx="12314696" cy="4219794"/>
          </a:xfrm>
          <a:custGeom>
            <a:avLst/>
            <a:gdLst/>
            <a:ahLst/>
            <a:cxnLst/>
            <a:rect r="r" b="b" t="t" l="l"/>
            <a:pathLst>
              <a:path h="4219794" w="12314696">
                <a:moveTo>
                  <a:pt x="0" y="0"/>
                </a:moveTo>
                <a:lnTo>
                  <a:pt x="12314696" y="0"/>
                </a:lnTo>
                <a:lnTo>
                  <a:pt x="12314696" y="4219794"/>
                </a:lnTo>
                <a:lnTo>
                  <a:pt x="0" y="4219794"/>
                </a:lnTo>
                <a:lnTo>
                  <a:pt x="0" y="0"/>
                </a:lnTo>
                <a:close/>
              </a:path>
            </a:pathLst>
          </a:custGeom>
          <a:blipFill>
            <a:blip r:embed="rId7"/>
            <a:stretch>
              <a:fillRect l="0" t="0" r="0" b="0"/>
            </a:stretch>
          </a:blipFill>
        </p:spPr>
      </p:sp>
      <p:sp>
        <p:nvSpPr>
          <p:cNvPr name="TextBox 19" id="19"/>
          <p:cNvSpPr txBox="true"/>
          <p:nvPr/>
        </p:nvSpPr>
        <p:spPr>
          <a:xfrm rot="0">
            <a:off x="6551267" y="1783464"/>
            <a:ext cx="5185465" cy="1402690"/>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PROSES WRANGLING</a:t>
            </a:r>
          </a:p>
          <a:p>
            <a:pPr algn="ctr">
              <a:lnSpc>
                <a:spcPts val="5263"/>
              </a:lnSpc>
            </a:pPr>
            <a:r>
              <a:rPr lang="en-US" b="true" sz="4112">
                <a:solidFill>
                  <a:srgbClr val="FFFFFF"/>
                </a:solidFill>
                <a:latin typeface="Neo Tech Bold"/>
                <a:ea typeface="Neo Tech Bold"/>
                <a:cs typeface="Neo Tech Bold"/>
                <a:sym typeface="Neo Tech Bold"/>
              </a:rPr>
              <a:t>IMPOR &amp; EKSPOR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956763" y="3686996"/>
            <a:ext cx="12374474" cy="3734916"/>
          </a:xfrm>
          <a:custGeom>
            <a:avLst/>
            <a:gdLst/>
            <a:ahLst/>
            <a:cxnLst/>
            <a:rect r="r" b="b" t="t" l="l"/>
            <a:pathLst>
              <a:path h="3734916" w="12374474">
                <a:moveTo>
                  <a:pt x="0" y="0"/>
                </a:moveTo>
                <a:lnTo>
                  <a:pt x="12374474" y="0"/>
                </a:lnTo>
                <a:lnTo>
                  <a:pt x="12374474" y="3734916"/>
                </a:lnTo>
                <a:lnTo>
                  <a:pt x="0" y="3734916"/>
                </a:lnTo>
                <a:lnTo>
                  <a:pt x="0" y="0"/>
                </a:lnTo>
                <a:close/>
              </a:path>
            </a:pathLst>
          </a:custGeom>
          <a:blipFill>
            <a:blip r:embed="rId7"/>
            <a:stretch>
              <a:fillRect l="0" t="0" r="0" b="0"/>
            </a:stretch>
          </a:blipFill>
        </p:spPr>
      </p:sp>
      <p:sp>
        <p:nvSpPr>
          <p:cNvPr name="TextBox 19" id="19"/>
          <p:cNvSpPr txBox="true"/>
          <p:nvPr/>
        </p:nvSpPr>
        <p:spPr>
          <a:xfrm rot="0">
            <a:off x="6551267" y="1783464"/>
            <a:ext cx="5185465" cy="1402690"/>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PROSES WRANGLING</a:t>
            </a:r>
          </a:p>
          <a:p>
            <a:pPr algn="ctr">
              <a:lnSpc>
                <a:spcPts val="5263"/>
              </a:lnSpc>
            </a:pPr>
            <a:r>
              <a:rPr lang="en-US" b="true" sz="4112">
                <a:solidFill>
                  <a:srgbClr val="FFFFFF"/>
                </a:solidFill>
                <a:latin typeface="Neo Tech Bold"/>
                <a:ea typeface="Neo Tech Bold"/>
                <a:cs typeface="Neo Tech Bold"/>
                <a:sym typeface="Neo Tech Bold"/>
              </a:rPr>
              <a:t>IMPOR &amp; EKSPOR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974383" y="3536954"/>
            <a:ext cx="12339234" cy="3722508"/>
          </a:xfrm>
          <a:custGeom>
            <a:avLst/>
            <a:gdLst/>
            <a:ahLst/>
            <a:cxnLst/>
            <a:rect r="r" b="b" t="t" l="l"/>
            <a:pathLst>
              <a:path h="3722508" w="12339234">
                <a:moveTo>
                  <a:pt x="0" y="0"/>
                </a:moveTo>
                <a:lnTo>
                  <a:pt x="12339234" y="0"/>
                </a:lnTo>
                <a:lnTo>
                  <a:pt x="12339234" y="3722509"/>
                </a:lnTo>
                <a:lnTo>
                  <a:pt x="0" y="3722509"/>
                </a:lnTo>
                <a:lnTo>
                  <a:pt x="0" y="0"/>
                </a:lnTo>
                <a:close/>
              </a:path>
            </a:pathLst>
          </a:custGeom>
          <a:blipFill>
            <a:blip r:embed="rId7"/>
            <a:stretch>
              <a:fillRect l="0" t="0" r="0" b="0"/>
            </a:stretch>
          </a:blipFill>
        </p:spPr>
      </p:sp>
      <p:sp>
        <p:nvSpPr>
          <p:cNvPr name="TextBox 19" id="19"/>
          <p:cNvSpPr txBox="true"/>
          <p:nvPr/>
        </p:nvSpPr>
        <p:spPr>
          <a:xfrm rot="0">
            <a:off x="6551267" y="1783464"/>
            <a:ext cx="5185465" cy="1402690"/>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PROSES WRANGLING</a:t>
            </a:r>
          </a:p>
          <a:p>
            <a:pPr algn="ctr">
              <a:lnSpc>
                <a:spcPts val="5263"/>
              </a:lnSpc>
            </a:pPr>
            <a:r>
              <a:rPr lang="en-US" b="true" sz="4112">
                <a:solidFill>
                  <a:srgbClr val="FFFFFF"/>
                </a:solidFill>
                <a:latin typeface="Neo Tech Bold"/>
                <a:ea typeface="Neo Tech Bold"/>
                <a:cs typeface="Neo Tech Bold"/>
                <a:sym typeface="Neo Tech Bold"/>
              </a:rPr>
              <a:t>IMPOR &amp; EKSPOR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4895653" y="1783464"/>
            <a:ext cx="8496694" cy="1402690"/>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PROSES WRANGLING</a:t>
            </a:r>
          </a:p>
          <a:p>
            <a:pPr algn="ctr">
              <a:lnSpc>
                <a:spcPts val="5263"/>
              </a:lnSpc>
            </a:pPr>
            <a:r>
              <a:rPr lang="en-US" b="true" sz="4112">
                <a:solidFill>
                  <a:srgbClr val="FFFFFF"/>
                </a:solidFill>
                <a:latin typeface="Neo Tech Bold"/>
                <a:ea typeface="Neo Tech Bold"/>
                <a:cs typeface="Neo Tech Bold"/>
                <a:sym typeface="Neo Tech Bold"/>
              </a:rPr>
              <a:t>ANALISIS NERACA PERDAGANGAN</a:t>
            </a:r>
          </a:p>
        </p:txBody>
      </p:sp>
      <p:sp>
        <p:nvSpPr>
          <p:cNvPr name="TextBox 19" id="19"/>
          <p:cNvSpPr txBox="true"/>
          <p:nvPr/>
        </p:nvSpPr>
        <p:spPr>
          <a:xfrm rot="0">
            <a:off x="3394560" y="4191102"/>
            <a:ext cx="11231784" cy="3107461"/>
          </a:xfrm>
          <a:prstGeom prst="rect">
            <a:avLst/>
          </a:prstGeom>
        </p:spPr>
        <p:txBody>
          <a:bodyPr anchor="t" rtlCol="false" tIns="0" lIns="0" bIns="0" rIns="0">
            <a:spAutoFit/>
          </a:bodyPr>
          <a:lstStyle/>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2020-2022: def</a:t>
            </a:r>
            <a:r>
              <a:rPr lang="en-US" b="true" sz="4467">
                <a:solidFill>
                  <a:srgbClr val="FFFFFF"/>
                </a:solidFill>
                <a:latin typeface="Open Sans Bold"/>
                <a:ea typeface="Open Sans Bold"/>
                <a:cs typeface="Open Sans Bold"/>
                <a:sym typeface="Open Sans Bold"/>
              </a:rPr>
              <a:t>isit moderat</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2023: defisit melonjak ke -3 juta ton</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2024: defisit mencapai -4,5 juta ton</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Ketergantungan impor sangat tinggi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4895653" y="1783464"/>
            <a:ext cx="8496694" cy="1402690"/>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PROSES WRANGLING</a:t>
            </a:r>
          </a:p>
          <a:p>
            <a:pPr algn="ctr">
              <a:lnSpc>
                <a:spcPts val="5263"/>
              </a:lnSpc>
            </a:pPr>
            <a:r>
              <a:rPr lang="en-US" b="true" sz="4112">
                <a:solidFill>
                  <a:srgbClr val="FFFFFF"/>
                </a:solidFill>
                <a:latin typeface="Neo Tech Bold"/>
                <a:ea typeface="Neo Tech Bold"/>
                <a:cs typeface="Neo Tech Bold"/>
                <a:sym typeface="Neo Tech Bold"/>
              </a:rPr>
              <a:t>ANALISIS NERACA PERDAGANGAN</a:t>
            </a:r>
          </a:p>
        </p:txBody>
      </p:sp>
      <p:sp>
        <p:nvSpPr>
          <p:cNvPr name="Freeform 19" id="19"/>
          <p:cNvSpPr/>
          <p:nvPr/>
        </p:nvSpPr>
        <p:spPr>
          <a:xfrm flipH="false" flipV="false" rot="0">
            <a:off x="2966618" y="3528450"/>
            <a:ext cx="12303458" cy="4013820"/>
          </a:xfrm>
          <a:custGeom>
            <a:avLst/>
            <a:gdLst/>
            <a:ahLst/>
            <a:cxnLst/>
            <a:rect r="r" b="b" t="t" l="l"/>
            <a:pathLst>
              <a:path h="4013820" w="12303458">
                <a:moveTo>
                  <a:pt x="0" y="0"/>
                </a:moveTo>
                <a:lnTo>
                  <a:pt x="12303459" y="0"/>
                </a:lnTo>
                <a:lnTo>
                  <a:pt x="12303459" y="4013819"/>
                </a:lnTo>
                <a:lnTo>
                  <a:pt x="0" y="4013819"/>
                </a:lnTo>
                <a:lnTo>
                  <a:pt x="0" y="0"/>
                </a:lnTo>
                <a:close/>
              </a:path>
            </a:pathLst>
          </a:custGeom>
          <a:blipFill>
            <a:blip r:embed="rId7"/>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4683121" y="1783464"/>
            <a:ext cx="8921758" cy="737606"/>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PRODUKTIVITAS JAGUNG &amp; KEDELAI</a:t>
            </a:r>
          </a:p>
        </p:txBody>
      </p:sp>
      <p:sp>
        <p:nvSpPr>
          <p:cNvPr name="TextBox 19" id="19"/>
          <p:cNvSpPr txBox="true"/>
          <p:nvPr/>
        </p:nvSpPr>
        <p:spPr>
          <a:xfrm rot="0">
            <a:off x="1807529" y="3703112"/>
            <a:ext cx="9541715" cy="3107461"/>
          </a:xfrm>
          <a:prstGeom prst="rect">
            <a:avLst/>
          </a:prstGeom>
        </p:spPr>
        <p:txBody>
          <a:bodyPr anchor="t" rtlCol="false" tIns="0" lIns="0" bIns="0" rIns="0">
            <a:spAutoFit/>
          </a:bodyPr>
          <a:lstStyle/>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J</a:t>
            </a:r>
            <a:r>
              <a:rPr lang="en-US" b="true" sz="4467">
                <a:solidFill>
                  <a:srgbClr val="FFFFFF"/>
                </a:solidFill>
                <a:latin typeface="Open Sans Bold"/>
                <a:ea typeface="Open Sans Bold"/>
                <a:cs typeface="Open Sans Bold"/>
                <a:sym typeface="Open Sans Bold"/>
              </a:rPr>
              <a:t>agung stabil &gt;50 Kw/Ha</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Kedelai rendah 13–17 Kw/Ha</a:t>
            </a:r>
          </a:p>
          <a:p>
            <a:pPr algn="just" marL="964446" indent="-482223" lvl="1">
              <a:lnSpc>
                <a:spcPts val="6253"/>
              </a:lnSpc>
              <a:buFont typeface="Arial"/>
              <a:buChar char="•"/>
            </a:pPr>
            <a:r>
              <a:rPr lang="en-US" b="true" sz="4467">
                <a:solidFill>
                  <a:srgbClr val="FFFFFF"/>
                </a:solidFill>
                <a:latin typeface="Open Sans Bold"/>
                <a:ea typeface="Open Sans Bold"/>
                <a:cs typeface="Open Sans Bold"/>
                <a:sym typeface="Open Sans Bold"/>
              </a:rPr>
              <a:t>Implikasi: impor kedelai tinggi</a:t>
            </a:r>
          </a:p>
          <a:p>
            <a:pPr algn="just">
              <a:lnSpc>
                <a:spcPts val="6253"/>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2601885" y="3851223"/>
            <a:ext cx="13084230" cy="4285085"/>
          </a:xfrm>
          <a:custGeom>
            <a:avLst/>
            <a:gdLst/>
            <a:ahLst/>
            <a:cxnLst/>
            <a:rect r="r" b="b" t="t" l="l"/>
            <a:pathLst>
              <a:path h="4285085" w="13084230">
                <a:moveTo>
                  <a:pt x="0" y="0"/>
                </a:moveTo>
                <a:lnTo>
                  <a:pt x="13084230" y="0"/>
                </a:lnTo>
                <a:lnTo>
                  <a:pt x="13084230" y="4285086"/>
                </a:lnTo>
                <a:lnTo>
                  <a:pt x="0" y="4285086"/>
                </a:lnTo>
                <a:lnTo>
                  <a:pt x="0" y="0"/>
                </a:lnTo>
                <a:close/>
              </a:path>
            </a:pathLst>
          </a:custGeom>
          <a:blipFill>
            <a:blip r:embed="rId7"/>
            <a:stretch>
              <a:fillRect l="0" t="0" r="0" b="0"/>
            </a:stretch>
          </a:blipFill>
        </p:spPr>
      </p:sp>
      <p:sp>
        <p:nvSpPr>
          <p:cNvPr name="TextBox 19" id="19"/>
          <p:cNvSpPr txBox="true"/>
          <p:nvPr/>
        </p:nvSpPr>
        <p:spPr>
          <a:xfrm rot="0">
            <a:off x="4683121" y="1783464"/>
            <a:ext cx="8921758" cy="737606"/>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PRODUKTIVITAS JAGUNG &amp; KEDELAI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4944707" y="1783464"/>
            <a:ext cx="8398585" cy="737606"/>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V</a:t>
            </a:r>
            <a:r>
              <a:rPr lang="en-US" b="true" sz="4112">
                <a:solidFill>
                  <a:srgbClr val="FFFFFF"/>
                </a:solidFill>
                <a:latin typeface="Neo Tech Bold"/>
                <a:ea typeface="Neo Tech Bold"/>
                <a:cs typeface="Neo Tech Bold"/>
                <a:sym typeface="Neo Tech Bold"/>
              </a:rPr>
              <a:t>OLATILITAS PRODUKSI &amp; HARGA</a:t>
            </a:r>
          </a:p>
        </p:txBody>
      </p:sp>
      <p:sp>
        <p:nvSpPr>
          <p:cNvPr name="TextBox 19" id="19"/>
          <p:cNvSpPr txBox="true"/>
          <p:nvPr/>
        </p:nvSpPr>
        <p:spPr>
          <a:xfrm rot="0">
            <a:off x="1807529" y="3722162"/>
            <a:ext cx="13462548" cy="4505436"/>
          </a:xfrm>
          <a:prstGeom prst="rect">
            <a:avLst/>
          </a:prstGeom>
        </p:spPr>
        <p:txBody>
          <a:bodyPr anchor="t" rtlCol="false" tIns="0" lIns="0" bIns="0" rIns="0">
            <a:spAutoFit/>
          </a:bodyPr>
          <a:lstStyle/>
          <a:p>
            <a:pPr algn="just" marL="789584" indent="-394792" lvl="1">
              <a:lnSpc>
                <a:spcPts val="5120"/>
              </a:lnSpc>
              <a:buFont typeface="Arial"/>
              <a:buChar char="•"/>
            </a:pPr>
            <a:r>
              <a:rPr lang="en-US" b="true" sz="3657">
                <a:solidFill>
                  <a:srgbClr val="FFFFFF"/>
                </a:solidFill>
                <a:latin typeface="Open Sans Bold"/>
                <a:ea typeface="Open Sans Bold"/>
                <a:cs typeface="Open Sans Bold"/>
                <a:sym typeface="Open Sans Bold"/>
              </a:rPr>
              <a:t>Visualisasi:</a:t>
            </a:r>
          </a:p>
          <a:p>
            <a:pPr algn="just" marL="789584" indent="-394792" lvl="1">
              <a:lnSpc>
                <a:spcPts val="5120"/>
              </a:lnSpc>
              <a:buAutoNum type="arabicPeriod" startAt="1"/>
            </a:pPr>
            <a:r>
              <a:rPr lang="en-US" b="true" sz="3657">
                <a:solidFill>
                  <a:srgbClr val="FFFFFF"/>
                </a:solidFill>
                <a:latin typeface="Open Sans Bold"/>
                <a:ea typeface="Open Sans Bold"/>
                <a:cs typeface="Open Sans Bold"/>
                <a:sym typeface="Open Sans Bold"/>
              </a:rPr>
              <a:t>Volatilit</a:t>
            </a:r>
            <a:r>
              <a:rPr lang="en-US" b="true" sz="3657">
                <a:solidFill>
                  <a:srgbClr val="FFFFFF"/>
                </a:solidFill>
                <a:latin typeface="Open Sans Bold"/>
                <a:ea typeface="Open Sans Bold"/>
                <a:cs typeface="Open Sans Bold"/>
                <a:sym typeface="Open Sans Bold"/>
              </a:rPr>
              <a:t>as Produksi</a:t>
            </a:r>
          </a:p>
          <a:p>
            <a:pPr algn="just" marL="789584" indent="-394792" lvl="1">
              <a:lnSpc>
                <a:spcPts val="5120"/>
              </a:lnSpc>
              <a:buAutoNum type="arabicPeriod" startAt="1"/>
            </a:pPr>
            <a:r>
              <a:rPr lang="en-US" b="true" sz="3657">
                <a:solidFill>
                  <a:srgbClr val="FFFFFF"/>
                </a:solidFill>
                <a:latin typeface="Open Sans Bold"/>
                <a:ea typeface="Open Sans Bold"/>
                <a:cs typeface="Open Sans Bold"/>
                <a:sym typeface="Open Sans Bold"/>
              </a:rPr>
              <a:t>Volatilitas Harga</a:t>
            </a:r>
          </a:p>
          <a:p>
            <a:pPr algn="just" marL="789584" indent="-394792" lvl="1">
              <a:lnSpc>
                <a:spcPts val="5120"/>
              </a:lnSpc>
              <a:buAutoNum type="arabicPeriod" startAt="1"/>
            </a:pPr>
            <a:r>
              <a:rPr lang="en-US" b="true" sz="3657">
                <a:solidFill>
                  <a:srgbClr val="FFFFFF"/>
                </a:solidFill>
                <a:latin typeface="Open Sans Bold"/>
                <a:ea typeface="Open Sans Bold"/>
                <a:cs typeface="Open Sans Bold"/>
                <a:sym typeface="Open Sans Bold"/>
              </a:rPr>
              <a:t>Sensitivitas Harga terhadap Produksi</a:t>
            </a:r>
          </a:p>
          <a:p>
            <a:pPr algn="just" marL="789584" indent="-394792" lvl="1">
              <a:lnSpc>
                <a:spcPts val="5120"/>
              </a:lnSpc>
              <a:buFont typeface="Arial"/>
              <a:buChar char="•"/>
            </a:pPr>
            <a:r>
              <a:rPr lang="en-US" b="true" sz="3657">
                <a:solidFill>
                  <a:srgbClr val="FFFFFF"/>
                </a:solidFill>
                <a:latin typeface="Open Sans Bold"/>
                <a:ea typeface="Open Sans Bold"/>
                <a:cs typeface="Open Sans Bold"/>
                <a:sym typeface="Open Sans Bold"/>
              </a:rPr>
              <a:t>Dengan kesimpulan harga sangat sensitif terhadap perubahan kecil produksi</a:t>
            </a:r>
          </a:p>
          <a:p>
            <a:pPr algn="just">
              <a:lnSpc>
                <a:spcPts val="5120"/>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3493371" y="3527907"/>
            <a:ext cx="11301259" cy="4633516"/>
          </a:xfrm>
          <a:custGeom>
            <a:avLst/>
            <a:gdLst/>
            <a:ahLst/>
            <a:cxnLst/>
            <a:rect r="r" b="b" t="t" l="l"/>
            <a:pathLst>
              <a:path h="4633516" w="11301259">
                <a:moveTo>
                  <a:pt x="0" y="0"/>
                </a:moveTo>
                <a:lnTo>
                  <a:pt x="11301258" y="0"/>
                </a:lnTo>
                <a:lnTo>
                  <a:pt x="11301258" y="4633516"/>
                </a:lnTo>
                <a:lnTo>
                  <a:pt x="0" y="4633516"/>
                </a:lnTo>
                <a:lnTo>
                  <a:pt x="0" y="0"/>
                </a:lnTo>
                <a:close/>
              </a:path>
            </a:pathLst>
          </a:custGeom>
          <a:blipFill>
            <a:blip r:embed="rId7"/>
            <a:stretch>
              <a:fillRect l="0" t="0" r="0" b="0"/>
            </a:stretch>
          </a:blipFill>
        </p:spPr>
      </p:sp>
      <p:sp>
        <p:nvSpPr>
          <p:cNvPr name="TextBox 19" id="19"/>
          <p:cNvSpPr txBox="true"/>
          <p:nvPr/>
        </p:nvSpPr>
        <p:spPr>
          <a:xfrm rot="0">
            <a:off x="4536419" y="1701296"/>
            <a:ext cx="8921758" cy="762836"/>
          </a:xfrm>
          <a:prstGeom prst="rect">
            <a:avLst/>
          </a:prstGeom>
        </p:spPr>
        <p:txBody>
          <a:bodyPr anchor="t" rtlCol="false" tIns="0" lIns="0" bIns="0" rIns="0">
            <a:spAutoFit/>
          </a:bodyPr>
          <a:lstStyle/>
          <a:p>
            <a:pPr algn="ctr">
              <a:lnSpc>
                <a:spcPts val="6253"/>
              </a:lnSpc>
              <a:spcBef>
                <a:spcPct val="0"/>
              </a:spcBef>
            </a:pPr>
            <a:r>
              <a:rPr lang="en-US" b="true" sz="4467">
                <a:solidFill>
                  <a:srgbClr val="FFFFFF"/>
                </a:solidFill>
                <a:latin typeface="Open Sans Bold"/>
                <a:ea typeface="Open Sans Bold"/>
                <a:cs typeface="Open Sans Bold"/>
                <a:sym typeface="Open Sans Bold"/>
              </a:rPr>
              <a:t>Volatilitas Produksi &amp; Harga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3346669" y="3374847"/>
            <a:ext cx="11301259" cy="4633516"/>
          </a:xfrm>
          <a:custGeom>
            <a:avLst/>
            <a:gdLst/>
            <a:ahLst/>
            <a:cxnLst/>
            <a:rect r="r" b="b" t="t" l="l"/>
            <a:pathLst>
              <a:path h="4633516" w="11301259">
                <a:moveTo>
                  <a:pt x="0" y="0"/>
                </a:moveTo>
                <a:lnTo>
                  <a:pt x="11301259" y="0"/>
                </a:lnTo>
                <a:lnTo>
                  <a:pt x="11301259" y="4633516"/>
                </a:lnTo>
                <a:lnTo>
                  <a:pt x="0" y="4633516"/>
                </a:lnTo>
                <a:lnTo>
                  <a:pt x="0" y="0"/>
                </a:lnTo>
                <a:close/>
              </a:path>
            </a:pathLst>
          </a:custGeom>
          <a:blipFill>
            <a:blip r:embed="rId7"/>
            <a:stretch>
              <a:fillRect l="0" t="0" r="0" b="0"/>
            </a:stretch>
          </a:blipFill>
        </p:spPr>
      </p:sp>
      <p:sp>
        <p:nvSpPr>
          <p:cNvPr name="TextBox 19" id="19"/>
          <p:cNvSpPr txBox="true"/>
          <p:nvPr/>
        </p:nvSpPr>
        <p:spPr>
          <a:xfrm rot="0">
            <a:off x="4536419" y="1701296"/>
            <a:ext cx="8921758" cy="762836"/>
          </a:xfrm>
          <a:prstGeom prst="rect">
            <a:avLst/>
          </a:prstGeom>
        </p:spPr>
        <p:txBody>
          <a:bodyPr anchor="t" rtlCol="false" tIns="0" lIns="0" bIns="0" rIns="0">
            <a:spAutoFit/>
          </a:bodyPr>
          <a:lstStyle/>
          <a:p>
            <a:pPr algn="ctr">
              <a:lnSpc>
                <a:spcPts val="6253"/>
              </a:lnSpc>
              <a:spcBef>
                <a:spcPct val="0"/>
              </a:spcBef>
            </a:pPr>
            <a:r>
              <a:rPr lang="en-US" b="true" sz="4467">
                <a:solidFill>
                  <a:srgbClr val="FFFFFF"/>
                </a:solidFill>
                <a:latin typeface="Open Sans Bold"/>
                <a:ea typeface="Open Sans Bold"/>
                <a:cs typeface="Open Sans Bold"/>
                <a:sym typeface="Open Sans Bold"/>
              </a:rPr>
              <a:t>Volatilitas Produksi &amp; Harga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3493371" y="3374847"/>
            <a:ext cx="11301259" cy="4633516"/>
          </a:xfrm>
          <a:custGeom>
            <a:avLst/>
            <a:gdLst/>
            <a:ahLst/>
            <a:cxnLst/>
            <a:rect r="r" b="b" t="t" l="l"/>
            <a:pathLst>
              <a:path h="4633516" w="11301259">
                <a:moveTo>
                  <a:pt x="0" y="0"/>
                </a:moveTo>
                <a:lnTo>
                  <a:pt x="11301258" y="0"/>
                </a:lnTo>
                <a:lnTo>
                  <a:pt x="11301258" y="4633516"/>
                </a:lnTo>
                <a:lnTo>
                  <a:pt x="0" y="4633516"/>
                </a:lnTo>
                <a:lnTo>
                  <a:pt x="0" y="0"/>
                </a:lnTo>
                <a:close/>
              </a:path>
            </a:pathLst>
          </a:custGeom>
          <a:blipFill>
            <a:blip r:embed="rId7"/>
            <a:stretch>
              <a:fillRect l="0" t="0" r="0" b="0"/>
            </a:stretch>
          </a:blipFill>
        </p:spPr>
      </p:sp>
      <p:sp>
        <p:nvSpPr>
          <p:cNvPr name="TextBox 19" id="19"/>
          <p:cNvSpPr txBox="true"/>
          <p:nvPr/>
        </p:nvSpPr>
        <p:spPr>
          <a:xfrm rot="0">
            <a:off x="4536419" y="1701296"/>
            <a:ext cx="8921758" cy="762836"/>
          </a:xfrm>
          <a:prstGeom prst="rect">
            <a:avLst/>
          </a:prstGeom>
        </p:spPr>
        <p:txBody>
          <a:bodyPr anchor="t" rtlCol="false" tIns="0" lIns="0" bIns="0" rIns="0">
            <a:spAutoFit/>
          </a:bodyPr>
          <a:lstStyle/>
          <a:p>
            <a:pPr algn="ctr">
              <a:lnSpc>
                <a:spcPts val="6253"/>
              </a:lnSpc>
              <a:spcBef>
                <a:spcPct val="0"/>
              </a:spcBef>
            </a:pPr>
            <a:r>
              <a:rPr lang="en-US" b="true" sz="4467">
                <a:solidFill>
                  <a:srgbClr val="FFFFFF"/>
                </a:solidFill>
                <a:latin typeface="Open Sans Bold"/>
                <a:ea typeface="Open Sans Bold"/>
                <a:cs typeface="Open Sans Bold"/>
                <a:sym typeface="Open Sans Bold"/>
              </a:rPr>
              <a:t>Volatilitas Produksi &amp; Harga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9144000" y="4533109"/>
            <a:ext cx="7952095" cy="2901090"/>
          </a:xfrm>
          <a:custGeom>
            <a:avLst/>
            <a:gdLst/>
            <a:ahLst/>
            <a:cxnLst/>
            <a:rect r="r" b="b" t="t" l="l"/>
            <a:pathLst>
              <a:path h="2901090" w="7952095">
                <a:moveTo>
                  <a:pt x="0" y="0"/>
                </a:moveTo>
                <a:lnTo>
                  <a:pt x="7952095" y="0"/>
                </a:lnTo>
                <a:lnTo>
                  <a:pt x="7952095" y="2901090"/>
                </a:lnTo>
                <a:lnTo>
                  <a:pt x="0" y="2901090"/>
                </a:lnTo>
                <a:lnTo>
                  <a:pt x="0" y="0"/>
                </a:lnTo>
                <a:close/>
              </a:path>
            </a:pathLst>
          </a:custGeom>
          <a:blipFill>
            <a:blip r:embed="rId7"/>
            <a:stretch>
              <a:fillRect l="0" t="0" r="0" b="0"/>
            </a:stretch>
          </a:blipFill>
        </p:spPr>
      </p:sp>
      <p:sp>
        <p:nvSpPr>
          <p:cNvPr name="Freeform 19" id="19"/>
          <p:cNvSpPr/>
          <p:nvPr/>
        </p:nvSpPr>
        <p:spPr>
          <a:xfrm flipH="false" flipV="false" rot="0">
            <a:off x="1215840" y="4270029"/>
            <a:ext cx="7653859" cy="3427250"/>
          </a:xfrm>
          <a:custGeom>
            <a:avLst/>
            <a:gdLst/>
            <a:ahLst/>
            <a:cxnLst/>
            <a:rect r="r" b="b" t="t" l="l"/>
            <a:pathLst>
              <a:path h="3427250" w="7653859">
                <a:moveTo>
                  <a:pt x="0" y="0"/>
                </a:moveTo>
                <a:lnTo>
                  <a:pt x="7653858" y="0"/>
                </a:lnTo>
                <a:lnTo>
                  <a:pt x="7653858" y="3427250"/>
                </a:lnTo>
                <a:lnTo>
                  <a:pt x="0" y="3427250"/>
                </a:lnTo>
                <a:lnTo>
                  <a:pt x="0" y="0"/>
                </a:lnTo>
                <a:close/>
              </a:path>
            </a:pathLst>
          </a:custGeom>
          <a:blipFill>
            <a:blip r:embed="rId8"/>
            <a:stretch>
              <a:fillRect l="0" t="0" r="0" b="0"/>
            </a:stretch>
          </a:blipFill>
        </p:spPr>
      </p:sp>
      <p:sp>
        <p:nvSpPr>
          <p:cNvPr name="TextBox 20" id="20"/>
          <p:cNvSpPr txBox="true"/>
          <p:nvPr/>
        </p:nvSpPr>
        <p:spPr>
          <a:xfrm rot="0">
            <a:off x="6199059" y="1783464"/>
            <a:ext cx="5889882" cy="737606"/>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DA</a:t>
            </a:r>
            <a:r>
              <a:rPr lang="en-US" b="true" sz="4112">
                <a:solidFill>
                  <a:srgbClr val="FFFFFF"/>
                </a:solidFill>
                <a:latin typeface="Neo Tech Bold"/>
                <a:ea typeface="Neo Tech Bold"/>
                <a:cs typeface="Neo Tech Bold"/>
                <a:sym typeface="Neo Tech Bold"/>
              </a:rPr>
              <a:t>TA EXPLORASI (EDA)</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879968" y="3671424"/>
            <a:ext cx="14528063" cy="4040361"/>
          </a:xfrm>
          <a:custGeom>
            <a:avLst/>
            <a:gdLst/>
            <a:ahLst/>
            <a:cxnLst/>
            <a:rect r="r" b="b" t="t" l="l"/>
            <a:pathLst>
              <a:path h="4040361" w="14528063">
                <a:moveTo>
                  <a:pt x="0" y="0"/>
                </a:moveTo>
                <a:lnTo>
                  <a:pt x="14528064" y="0"/>
                </a:lnTo>
                <a:lnTo>
                  <a:pt x="14528064" y="4040361"/>
                </a:lnTo>
                <a:lnTo>
                  <a:pt x="0" y="4040361"/>
                </a:lnTo>
                <a:lnTo>
                  <a:pt x="0" y="0"/>
                </a:lnTo>
                <a:close/>
              </a:path>
            </a:pathLst>
          </a:custGeom>
          <a:blipFill>
            <a:blip r:embed="rId7"/>
            <a:stretch>
              <a:fillRect l="0" t="0" r="0" b="-3377"/>
            </a:stretch>
          </a:blipFill>
        </p:spPr>
      </p:sp>
      <p:sp>
        <p:nvSpPr>
          <p:cNvPr name="TextBox 16" id="16"/>
          <p:cNvSpPr txBox="true"/>
          <p:nvPr/>
        </p:nvSpPr>
        <p:spPr>
          <a:xfrm rot="0">
            <a:off x="6199059" y="1783464"/>
            <a:ext cx="5889882" cy="737606"/>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DA</a:t>
            </a:r>
            <a:r>
              <a:rPr lang="en-US" b="true" sz="4112">
                <a:solidFill>
                  <a:srgbClr val="FFFFFF"/>
                </a:solidFill>
                <a:latin typeface="Neo Tech Bold"/>
                <a:ea typeface="Neo Tech Bold"/>
                <a:cs typeface="Neo Tech Bold"/>
                <a:sym typeface="Neo Tech Bold"/>
              </a:rPr>
              <a:t>TA EXPLORASI (EDA)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1369139" y="3475769"/>
            <a:ext cx="15549723" cy="4431671"/>
          </a:xfrm>
          <a:custGeom>
            <a:avLst/>
            <a:gdLst/>
            <a:ahLst/>
            <a:cxnLst/>
            <a:rect r="r" b="b" t="t" l="l"/>
            <a:pathLst>
              <a:path h="4431671" w="15549723">
                <a:moveTo>
                  <a:pt x="0" y="0"/>
                </a:moveTo>
                <a:lnTo>
                  <a:pt x="15549722" y="0"/>
                </a:lnTo>
                <a:lnTo>
                  <a:pt x="15549722" y="4431671"/>
                </a:lnTo>
                <a:lnTo>
                  <a:pt x="0" y="4431671"/>
                </a:lnTo>
                <a:lnTo>
                  <a:pt x="0" y="0"/>
                </a:lnTo>
                <a:close/>
              </a:path>
            </a:pathLst>
          </a:custGeom>
          <a:blipFill>
            <a:blip r:embed="rId7"/>
            <a:stretch>
              <a:fillRect l="0" t="0" r="0" b="0"/>
            </a:stretch>
          </a:blipFill>
        </p:spPr>
      </p:sp>
      <p:sp>
        <p:nvSpPr>
          <p:cNvPr name="TextBox 19" id="19"/>
          <p:cNvSpPr txBox="true"/>
          <p:nvPr/>
        </p:nvSpPr>
        <p:spPr>
          <a:xfrm rot="0">
            <a:off x="4568891" y="1759450"/>
            <a:ext cx="9395765" cy="1234523"/>
          </a:xfrm>
          <a:prstGeom prst="rect">
            <a:avLst/>
          </a:prstGeom>
        </p:spPr>
        <p:txBody>
          <a:bodyPr anchor="t" rtlCol="false" tIns="0" lIns="0" bIns="0" rIns="0">
            <a:spAutoFit/>
          </a:bodyPr>
          <a:lstStyle/>
          <a:p>
            <a:pPr algn="ctr">
              <a:lnSpc>
                <a:spcPts val="4615"/>
              </a:lnSpc>
            </a:pPr>
            <a:r>
              <a:rPr lang="en-US" b="true" sz="3605">
                <a:solidFill>
                  <a:srgbClr val="FFFFFF"/>
                </a:solidFill>
                <a:latin typeface="Neo Tech Bold"/>
                <a:ea typeface="Neo Tech Bold"/>
                <a:cs typeface="Neo Tech Bold"/>
                <a:sym typeface="Neo Tech Bold"/>
              </a:rPr>
              <a:t>TREN</a:t>
            </a:r>
            <a:r>
              <a:rPr lang="en-US" b="true" sz="3605">
                <a:solidFill>
                  <a:srgbClr val="FFFFFF"/>
                </a:solidFill>
                <a:latin typeface="Neo Tech Bold"/>
                <a:ea typeface="Neo Tech Bold"/>
                <a:cs typeface="Neo Tech Bold"/>
                <a:sym typeface="Neo Tech Bold"/>
              </a:rPr>
              <a:t> PRODUKSI BERAS NASIONAL VS HARGA RATA-RATA KONSUMEN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028700" y="2751622"/>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3751581" y="2751622"/>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5829866" y="1783464"/>
            <a:ext cx="6628268" cy="737606"/>
          </a:xfrm>
          <a:prstGeom prst="rect">
            <a:avLst/>
          </a:prstGeom>
        </p:spPr>
        <p:txBody>
          <a:bodyPr anchor="t" rtlCol="false" tIns="0" lIns="0" bIns="0" rIns="0">
            <a:spAutoFit/>
          </a:bodyPr>
          <a:lstStyle/>
          <a:p>
            <a:pPr algn="ctr">
              <a:lnSpc>
                <a:spcPts val="5263"/>
              </a:lnSpc>
            </a:pPr>
            <a:r>
              <a:rPr lang="en-US" b="true" sz="4112">
                <a:solidFill>
                  <a:srgbClr val="FFFFFF"/>
                </a:solidFill>
                <a:latin typeface="Neo Tech Bold"/>
                <a:ea typeface="Neo Tech Bold"/>
                <a:cs typeface="Neo Tech Bold"/>
                <a:sym typeface="Neo Tech Bold"/>
              </a:rPr>
              <a:t>PUBLIKASI DATA (GITHUB)</a:t>
            </a:r>
          </a:p>
        </p:txBody>
      </p:sp>
      <p:sp>
        <p:nvSpPr>
          <p:cNvPr name="TextBox 19" id="19"/>
          <p:cNvSpPr txBox="true"/>
          <p:nvPr/>
        </p:nvSpPr>
        <p:spPr>
          <a:xfrm rot="0">
            <a:off x="4252770" y="3214469"/>
            <a:ext cx="9782459" cy="5174767"/>
          </a:xfrm>
          <a:prstGeom prst="rect">
            <a:avLst/>
          </a:prstGeom>
        </p:spPr>
        <p:txBody>
          <a:bodyPr anchor="t" rtlCol="false" tIns="0" lIns="0" bIns="0" rIns="0">
            <a:spAutoFit/>
          </a:bodyPr>
          <a:lstStyle/>
          <a:p>
            <a:pPr algn="l" marL="700808" indent="-350404" lvl="1">
              <a:lnSpc>
                <a:spcPts val="4544"/>
              </a:lnSpc>
              <a:buAutoNum type="arabicPeriod" startAt="1"/>
            </a:pPr>
            <a:r>
              <a:rPr lang="en-US" b="true" sz="3245">
                <a:solidFill>
                  <a:srgbClr val="FFFFFF"/>
                </a:solidFill>
                <a:latin typeface="Open Sans Bold"/>
                <a:ea typeface="Open Sans Bold"/>
                <a:cs typeface="Open Sans Bold"/>
                <a:sym typeface="Open Sans Bold"/>
              </a:rPr>
              <a:t>Raw data</a:t>
            </a:r>
          </a:p>
          <a:p>
            <a:pPr algn="l" marL="700808" indent="-350404" lvl="1">
              <a:lnSpc>
                <a:spcPts val="4544"/>
              </a:lnSpc>
              <a:buAutoNum type="arabicPeriod" startAt="1"/>
            </a:pPr>
            <a:r>
              <a:rPr lang="en-US" b="true" sz="3245">
                <a:solidFill>
                  <a:srgbClr val="FFFFFF"/>
                </a:solidFill>
                <a:latin typeface="Open Sans Bold"/>
                <a:ea typeface="Open Sans Bold"/>
                <a:cs typeface="Open Sans Bold"/>
                <a:sym typeface="Open Sans Bold"/>
              </a:rPr>
              <a:t>Dataset hasil wrangling</a:t>
            </a:r>
          </a:p>
          <a:p>
            <a:pPr algn="l" marL="700808" indent="-350404" lvl="1">
              <a:lnSpc>
                <a:spcPts val="4544"/>
              </a:lnSpc>
              <a:buAutoNum type="arabicPeriod" startAt="1"/>
            </a:pPr>
            <a:r>
              <a:rPr lang="en-US" b="true" sz="3245">
                <a:solidFill>
                  <a:srgbClr val="FFFFFF"/>
                </a:solidFill>
                <a:latin typeface="Open Sans Bold"/>
                <a:ea typeface="Open Sans Bold"/>
                <a:cs typeface="Open Sans Bold"/>
                <a:sym typeface="Open Sans Bold"/>
              </a:rPr>
              <a:t>Semua visualisasi gambar</a:t>
            </a:r>
          </a:p>
          <a:p>
            <a:pPr algn="l" marL="700808" indent="-350404" lvl="1">
              <a:lnSpc>
                <a:spcPts val="4544"/>
              </a:lnSpc>
              <a:buAutoNum type="arabicPeriod" startAt="1"/>
            </a:pPr>
            <a:r>
              <a:rPr lang="en-US" b="true" sz="3245">
                <a:solidFill>
                  <a:srgbClr val="FFFFFF"/>
                </a:solidFill>
                <a:latin typeface="Open Sans Bold"/>
                <a:ea typeface="Open Sans Bold"/>
                <a:cs typeface="Open Sans Bold"/>
                <a:sym typeface="Open Sans Bold"/>
              </a:rPr>
              <a:t>Flowchart &amp; pipeline</a:t>
            </a:r>
          </a:p>
          <a:p>
            <a:pPr algn="l" marL="700808" indent="-350404" lvl="1">
              <a:lnSpc>
                <a:spcPts val="4544"/>
              </a:lnSpc>
              <a:buAutoNum type="arabicPeriod" startAt="1"/>
            </a:pPr>
            <a:r>
              <a:rPr lang="en-US" b="true" sz="3245">
                <a:solidFill>
                  <a:srgbClr val="FFFFFF"/>
                </a:solidFill>
                <a:latin typeface="Open Sans Bold"/>
                <a:ea typeface="Open Sans Bold"/>
                <a:cs typeface="Open Sans Bold"/>
                <a:sym typeface="Open Sans Bold"/>
              </a:rPr>
              <a:t>Notebook Google Colab</a:t>
            </a:r>
          </a:p>
          <a:p>
            <a:pPr algn="l" marL="700808" indent="-350404" lvl="1">
              <a:lnSpc>
                <a:spcPts val="4544"/>
              </a:lnSpc>
              <a:buAutoNum type="arabicPeriod" startAt="1"/>
            </a:pPr>
            <a:r>
              <a:rPr lang="en-US" b="true" sz="3245">
                <a:solidFill>
                  <a:srgbClr val="FFFFFF"/>
                </a:solidFill>
                <a:latin typeface="Open Sans Bold"/>
                <a:ea typeface="Open Sans Bold"/>
                <a:cs typeface="Open Sans Bold"/>
                <a:sym typeface="Open Sans Bold"/>
              </a:rPr>
              <a:t>Laporan &amp; PPT</a:t>
            </a:r>
          </a:p>
          <a:p>
            <a:pPr algn="l" marL="700808" indent="-350404" lvl="1">
              <a:lnSpc>
                <a:spcPts val="4544"/>
              </a:lnSpc>
              <a:buAutoNum type="arabicPeriod" startAt="1"/>
            </a:pPr>
            <a:r>
              <a:rPr lang="en-US" b="true" sz="3245">
                <a:solidFill>
                  <a:srgbClr val="FFFFFF"/>
                </a:solidFill>
                <a:latin typeface="Open Sans Bold"/>
                <a:ea typeface="Open Sans Bold"/>
                <a:cs typeface="Open Sans Bold"/>
                <a:sym typeface="Open Sans Bold"/>
              </a:rPr>
              <a:t>Link GitHub: </a:t>
            </a:r>
            <a:r>
              <a:rPr lang="en-US" b="true" sz="3245" u="sng">
                <a:solidFill>
                  <a:srgbClr val="FFFFFF"/>
                </a:solidFill>
                <a:latin typeface="Open Sans Bold"/>
                <a:ea typeface="Open Sans Bold"/>
                <a:cs typeface="Open Sans Bold"/>
                <a:sym typeface="Open Sans Bold"/>
                <a:hlinkClick r:id="rId7" tooltip="https://github.com/WhyPtyo/17_Wahyu-Prasetyono_Maris-Al-Sabina-Azzuhra"/>
              </a:rPr>
              <a:t>https://github.com/WhyPtyo/17_Wahyu-Prasetyono_Maris-Al-Sabina-Azzuhra</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true" flipV="false" rot="0">
            <a:off x="14493835" y="2508735"/>
            <a:ext cx="2765465" cy="191068"/>
          </a:xfrm>
          <a:custGeom>
            <a:avLst/>
            <a:gdLst/>
            <a:ahLst/>
            <a:cxnLst/>
            <a:rect r="r" b="b" t="t" l="l"/>
            <a:pathLst>
              <a:path h="191068" w="2765465">
                <a:moveTo>
                  <a:pt x="2765465" y="0"/>
                </a:moveTo>
                <a:lnTo>
                  <a:pt x="0" y="0"/>
                </a:lnTo>
                <a:lnTo>
                  <a:pt x="0" y="191069"/>
                </a:lnTo>
                <a:lnTo>
                  <a:pt x="2765465" y="191069"/>
                </a:lnTo>
                <a:lnTo>
                  <a:pt x="27654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029323" y="2508735"/>
            <a:ext cx="2765465" cy="191068"/>
          </a:xfrm>
          <a:custGeom>
            <a:avLst/>
            <a:gdLst/>
            <a:ahLst/>
            <a:cxnLst/>
            <a:rect r="r" b="b" t="t" l="l"/>
            <a:pathLst>
              <a:path h="191068" w="2765465">
                <a:moveTo>
                  <a:pt x="0" y="0"/>
                </a:moveTo>
                <a:lnTo>
                  <a:pt x="2765465" y="0"/>
                </a:lnTo>
                <a:lnTo>
                  <a:pt x="2765465" y="191069"/>
                </a:lnTo>
                <a:lnTo>
                  <a:pt x="0" y="191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1732851" y="2968623"/>
            <a:ext cx="6775766" cy="5420613"/>
          </a:xfrm>
          <a:custGeom>
            <a:avLst/>
            <a:gdLst/>
            <a:ahLst/>
            <a:cxnLst/>
            <a:rect r="r" b="b" t="t" l="l"/>
            <a:pathLst>
              <a:path h="5420613" w="6775766">
                <a:moveTo>
                  <a:pt x="0" y="0"/>
                </a:moveTo>
                <a:lnTo>
                  <a:pt x="6775766" y="0"/>
                </a:lnTo>
                <a:lnTo>
                  <a:pt x="6775766" y="5420613"/>
                </a:lnTo>
                <a:lnTo>
                  <a:pt x="0" y="5420613"/>
                </a:lnTo>
                <a:lnTo>
                  <a:pt x="0" y="0"/>
                </a:lnTo>
                <a:close/>
              </a:path>
            </a:pathLst>
          </a:custGeom>
          <a:blipFill>
            <a:blip r:embed="rId7"/>
            <a:stretch>
              <a:fillRect l="0" t="0" r="0" b="0"/>
            </a:stretch>
          </a:blipFill>
        </p:spPr>
      </p:sp>
      <p:sp>
        <p:nvSpPr>
          <p:cNvPr name="TextBox 19" id="19"/>
          <p:cNvSpPr txBox="true"/>
          <p:nvPr/>
        </p:nvSpPr>
        <p:spPr>
          <a:xfrm rot="0">
            <a:off x="6161976" y="2120016"/>
            <a:ext cx="5964047" cy="848607"/>
          </a:xfrm>
          <a:prstGeom prst="rect">
            <a:avLst/>
          </a:prstGeom>
        </p:spPr>
        <p:txBody>
          <a:bodyPr anchor="t" rtlCol="false" tIns="0" lIns="0" bIns="0" rIns="0">
            <a:spAutoFit/>
          </a:bodyPr>
          <a:lstStyle/>
          <a:p>
            <a:pPr algn="ctr">
              <a:lnSpc>
                <a:spcPts val="6073"/>
              </a:lnSpc>
            </a:pPr>
            <a:r>
              <a:rPr lang="en-US" b="true" sz="4745">
                <a:solidFill>
                  <a:srgbClr val="FFFFFF"/>
                </a:solidFill>
                <a:latin typeface="Neo Tech Bold"/>
                <a:ea typeface="Neo Tech Bold"/>
                <a:cs typeface="Neo Tech Bold"/>
                <a:sym typeface="Neo Tech Bold"/>
              </a:rPr>
              <a:t>HEATMAP KORELASI</a:t>
            </a:r>
          </a:p>
        </p:txBody>
      </p:sp>
      <p:sp>
        <p:nvSpPr>
          <p:cNvPr name="TextBox 20" id="20"/>
          <p:cNvSpPr txBox="true"/>
          <p:nvPr/>
        </p:nvSpPr>
        <p:spPr>
          <a:xfrm rot="0">
            <a:off x="8921295" y="3148862"/>
            <a:ext cx="7767920" cy="4907737"/>
          </a:xfrm>
          <a:prstGeom prst="rect">
            <a:avLst/>
          </a:prstGeom>
        </p:spPr>
        <p:txBody>
          <a:bodyPr anchor="t" rtlCol="false" tIns="0" lIns="0" bIns="0" rIns="0">
            <a:spAutoFit/>
          </a:bodyPr>
          <a:lstStyle/>
          <a:p>
            <a:pPr algn="just">
              <a:lnSpc>
                <a:spcPts val="3874"/>
              </a:lnSpc>
            </a:pPr>
            <a:r>
              <a:rPr lang="en-US" sz="2265" spc="24">
                <a:solidFill>
                  <a:srgbClr val="FFFFFF"/>
                </a:solidFill>
                <a:latin typeface="Neo Tech"/>
                <a:ea typeface="Neo Tech"/>
                <a:cs typeface="Neo Tech"/>
                <a:sym typeface="Neo Tech"/>
              </a:rPr>
              <a:t>Heatmap korelasi ini menggambarkan hubungan antar variabel strategis seperti produksi, konsumsi, harga, impor, ekspor, serta neraca pangan nasional untuk komoditas utama di Indonesia. Nilai korelasi berkisar antara -1 sampai 1, di mana nilai mendekati 1 menunjukkan hubungan positif kuat, sedangkan mendekati -1 menunjukkan hubungan negatif kuat. Warna merah menandakan korelasi positif tinggi, sementara warna biru menunjukkan korelasi negatif. Warna yang semakin gelap menandakan semakin kuatnya hubungan antar variabel.</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true" flipV="false" rot="0">
            <a:off x="14493835" y="2508735"/>
            <a:ext cx="2765465" cy="191068"/>
          </a:xfrm>
          <a:custGeom>
            <a:avLst/>
            <a:gdLst/>
            <a:ahLst/>
            <a:cxnLst/>
            <a:rect r="r" b="b" t="t" l="l"/>
            <a:pathLst>
              <a:path h="191068" w="2765465">
                <a:moveTo>
                  <a:pt x="2765465" y="0"/>
                </a:moveTo>
                <a:lnTo>
                  <a:pt x="0" y="0"/>
                </a:lnTo>
                <a:lnTo>
                  <a:pt x="0" y="191069"/>
                </a:lnTo>
                <a:lnTo>
                  <a:pt x="2765465" y="191069"/>
                </a:lnTo>
                <a:lnTo>
                  <a:pt x="276546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029323" y="2508735"/>
            <a:ext cx="2765465" cy="191068"/>
          </a:xfrm>
          <a:custGeom>
            <a:avLst/>
            <a:gdLst/>
            <a:ahLst/>
            <a:cxnLst/>
            <a:rect r="r" b="b" t="t" l="l"/>
            <a:pathLst>
              <a:path h="191068" w="2765465">
                <a:moveTo>
                  <a:pt x="0" y="0"/>
                </a:moveTo>
                <a:lnTo>
                  <a:pt x="2765465" y="0"/>
                </a:lnTo>
                <a:lnTo>
                  <a:pt x="2765465" y="191069"/>
                </a:lnTo>
                <a:lnTo>
                  <a:pt x="0" y="191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3309964" y="2968623"/>
            <a:ext cx="11668073" cy="4753191"/>
          </a:xfrm>
          <a:custGeom>
            <a:avLst/>
            <a:gdLst/>
            <a:ahLst/>
            <a:cxnLst/>
            <a:rect r="r" b="b" t="t" l="l"/>
            <a:pathLst>
              <a:path h="4753191" w="11668073">
                <a:moveTo>
                  <a:pt x="0" y="0"/>
                </a:moveTo>
                <a:lnTo>
                  <a:pt x="11668072" y="0"/>
                </a:lnTo>
                <a:lnTo>
                  <a:pt x="11668072" y="4753192"/>
                </a:lnTo>
                <a:lnTo>
                  <a:pt x="0" y="4753192"/>
                </a:lnTo>
                <a:lnTo>
                  <a:pt x="0" y="0"/>
                </a:lnTo>
                <a:close/>
              </a:path>
            </a:pathLst>
          </a:custGeom>
          <a:blipFill>
            <a:blip r:embed="rId7"/>
            <a:stretch>
              <a:fillRect l="0" t="0" r="0" b="0"/>
            </a:stretch>
          </a:blipFill>
        </p:spPr>
      </p:sp>
      <p:sp>
        <p:nvSpPr>
          <p:cNvPr name="TextBox 19" id="19"/>
          <p:cNvSpPr txBox="true"/>
          <p:nvPr/>
        </p:nvSpPr>
        <p:spPr>
          <a:xfrm rot="0">
            <a:off x="6866155" y="2120016"/>
            <a:ext cx="4555690" cy="848607"/>
          </a:xfrm>
          <a:prstGeom prst="rect">
            <a:avLst/>
          </a:prstGeom>
        </p:spPr>
        <p:txBody>
          <a:bodyPr anchor="t" rtlCol="false" tIns="0" lIns="0" bIns="0" rIns="0">
            <a:spAutoFit/>
          </a:bodyPr>
          <a:lstStyle/>
          <a:p>
            <a:pPr algn="ctr">
              <a:lnSpc>
                <a:spcPts val="6073"/>
              </a:lnSpc>
            </a:pPr>
            <a:r>
              <a:rPr lang="en-US" b="true" sz="4745">
                <a:solidFill>
                  <a:srgbClr val="FFFFFF"/>
                </a:solidFill>
                <a:latin typeface="Neo Tech Bold"/>
                <a:ea typeface="Neo Tech Bold"/>
                <a:cs typeface="Neo Tech Bold"/>
                <a:sym typeface="Neo Tech Bold"/>
              </a:rPr>
              <a:t>DATA PROVINSI</a:t>
            </a:r>
          </a:p>
        </p:txBody>
      </p:sp>
      <p:sp>
        <p:nvSpPr>
          <p:cNvPr name="TextBox 20" id="20"/>
          <p:cNvSpPr txBox="true"/>
          <p:nvPr/>
        </p:nvSpPr>
        <p:spPr>
          <a:xfrm rot="0">
            <a:off x="4312916" y="7813390"/>
            <a:ext cx="9662167" cy="524617"/>
          </a:xfrm>
          <a:prstGeom prst="rect">
            <a:avLst/>
          </a:prstGeom>
        </p:spPr>
        <p:txBody>
          <a:bodyPr anchor="t" rtlCol="false" tIns="0" lIns="0" bIns="0" rIns="0">
            <a:spAutoFit/>
          </a:bodyPr>
          <a:lstStyle/>
          <a:p>
            <a:pPr algn="just">
              <a:lnSpc>
                <a:spcPts val="4003"/>
              </a:lnSpc>
            </a:pPr>
            <a:r>
              <a:rPr lang="en-US" sz="2341" spc="25">
                <a:solidFill>
                  <a:srgbClr val="FFFFFF"/>
                </a:solidFill>
                <a:latin typeface="Neo Tech"/>
                <a:ea typeface="Neo Tech"/>
                <a:cs typeface="Neo Tech"/>
                <a:sym typeface="Neo Tech"/>
              </a:rPr>
              <a:t>Data provinsi dieksplorasi secara geografis menggunakan peta geojson.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6305949" y="2067166"/>
            <a:ext cx="5676102" cy="935774"/>
          </a:xfrm>
          <a:prstGeom prst="rect">
            <a:avLst/>
          </a:prstGeom>
        </p:spPr>
        <p:txBody>
          <a:bodyPr anchor="t" rtlCol="false" tIns="0" lIns="0" bIns="0" rIns="0">
            <a:spAutoFit/>
          </a:bodyPr>
          <a:lstStyle/>
          <a:p>
            <a:pPr algn="ctr">
              <a:lnSpc>
                <a:spcPts val="6644"/>
              </a:lnSpc>
            </a:pPr>
            <a:r>
              <a:rPr lang="en-US" b="true" sz="5191">
                <a:solidFill>
                  <a:srgbClr val="FFFFFF"/>
                </a:solidFill>
                <a:latin typeface="Neo Tech Bold"/>
                <a:ea typeface="Neo Tech Bold"/>
                <a:cs typeface="Neo Tech Bold"/>
                <a:sym typeface="Neo Tech Bold"/>
              </a:rPr>
              <a:t>KENDALA PROSES</a:t>
            </a:r>
          </a:p>
        </p:txBody>
      </p:sp>
      <p:sp>
        <p:nvSpPr>
          <p:cNvPr name="Freeform 17" id="17"/>
          <p:cNvSpPr/>
          <p:nvPr/>
        </p:nvSpPr>
        <p:spPr>
          <a:xfrm flipH="false" flipV="false" rot="0">
            <a:off x="1028700" y="2482306"/>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true" flipV="false" rot="0">
            <a:off x="13751581" y="2482306"/>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389171" y="2793390"/>
            <a:ext cx="15484315" cy="6400781"/>
          </a:xfrm>
          <a:prstGeom prst="rect">
            <a:avLst/>
          </a:prstGeom>
        </p:spPr>
        <p:txBody>
          <a:bodyPr anchor="t" rtlCol="false" tIns="0" lIns="0" bIns="0" rIns="0">
            <a:spAutoFit/>
          </a:bodyPr>
          <a:lstStyle/>
          <a:p>
            <a:pPr algn="just">
              <a:lnSpc>
                <a:spcPts val="5029"/>
              </a:lnSpc>
            </a:pPr>
            <a:r>
              <a:rPr lang="en-US" sz="2941" spc="32">
                <a:solidFill>
                  <a:srgbClr val="FFFFFF"/>
                </a:solidFill>
                <a:latin typeface="Neo Tech"/>
                <a:ea typeface="Neo Tech"/>
                <a:cs typeface="Neo Tech"/>
                <a:sym typeface="Neo Tech"/>
              </a:rPr>
              <a:t>Kendala selama pelaksanaan proses data wrangling, ditemukan beberapa kendala teknis yang signifikan yang mempengaruhi efisiensi pengerjaan : </a:t>
            </a:r>
          </a:p>
          <a:p>
            <a:pPr algn="just" marL="635065" indent="-317532" lvl="1">
              <a:lnSpc>
                <a:spcPts val="5029"/>
              </a:lnSpc>
              <a:buAutoNum type="arabicPeriod" startAt="1"/>
            </a:pPr>
            <a:r>
              <a:rPr lang="en-US" sz="2941" spc="32">
                <a:solidFill>
                  <a:srgbClr val="FFFFFF"/>
                </a:solidFill>
                <a:latin typeface="Neo Tech"/>
                <a:ea typeface="Neo Tech"/>
                <a:cs typeface="Neo Tech"/>
                <a:sym typeface="Neo Tech"/>
              </a:rPr>
              <a:t>Inkonsistensi Granularitas : Informasi data harga tersedia setiap hari, sementara informasi data produksi hanya ada setiap tahun. Hal ini memerlukan proses agregasi (rata-rata tahunan) yang mungkin menghilangkan nuansa fluktuasi musiman</a:t>
            </a:r>
          </a:p>
          <a:p>
            <a:pPr algn="just" marL="635065" indent="-317532" lvl="1">
              <a:lnSpc>
                <a:spcPts val="5029"/>
              </a:lnSpc>
              <a:buAutoNum type="arabicPeriod" startAt="1"/>
            </a:pPr>
            <a:r>
              <a:rPr lang="en-US" sz="2941" spc="32">
                <a:solidFill>
                  <a:srgbClr val="FFFFFF"/>
                </a:solidFill>
                <a:latin typeface="Neo Tech"/>
                <a:ea typeface="Neo Tech"/>
                <a:cs typeface="Neo Tech"/>
                <a:sym typeface="Neo Tech"/>
              </a:rPr>
              <a:t>Perubahan Administratif : Pembentukan provinsi baru di Papua antara tahun 2022 dan 2023 membuat data dari sebelum tahun tersebut tidak mencakup informasi untuk provinsi yang baru dibentuk, sehingga menyulitkan analisis data dari waktu ke waktu untuk wilayah yang baru.</a:t>
            </a:r>
          </a:p>
          <a:p>
            <a:pPr algn="just">
              <a:lnSpc>
                <a:spcPts val="5029"/>
              </a:lnSpc>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5063303" y="2067166"/>
            <a:ext cx="8161395" cy="935774"/>
          </a:xfrm>
          <a:prstGeom prst="rect">
            <a:avLst/>
          </a:prstGeom>
        </p:spPr>
        <p:txBody>
          <a:bodyPr anchor="t" rtlCol="false" tIns="0" lIns="0" bIns="0" rIns="0">
            <a:spAutoFit/>
          </a:bodyPr>
          <a:lstStyle/>
          <a:p>
            <a:pPr algn="ctr">
              <a:lnSpc>
                <a:spcPts val="6644"/>
              </a:lnSpc>
            </a:pPr>
            <a:r>
              <a:rPr lang="en-US" b="true" sz="5191">
                <a:solidFill>
                  <a:srgbClr val="FFFFFF"/>
                </a:solidFill>
                <a:latin typeface="Neo Tech Bold"/>
                <a:ea typeface="Neo Tech Bold"/>
                <a:cs typeface="Neo Tech Bold"/>
                <a:sym typeface="Neo Tech Bold"/>
              </a:rPr>
              <a:t>RENCANA TINDAK LANJUT</a:t>
            </a:r>
          </a:p>
        </p:txBody>
      </p:sp>
      <p:sp>
        <p:nvSpPr>
          <p:cNvPr name="Freeform 17" id="17"/>
          <p:cNvSpPr/>
          <p:nvPr/>
        </p:nvSpPr>
        <p:spPr>
          <a:xfrm flipH="false" flipV="false" rot="0">
            <a:off x="1028700" y="2482306"/>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true" flipV="false" rot="0">
            <a:off x="13751581" y="2482306"/>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576352" y="3615218"/>
            <a:ext cx="3941207" cy="3204570"/>
          </a:xfrm>
          <a:prstGeom prst="rect">
            <a:avLst/>
          </a:prstGeom>
        </p:spPr>
        <p:txBody>
          <a:bodyPr anchor="t" rtlCol="false" tIns="0" lIns="0" bIns="0" rIns="0">
            <a:spAutoFit/>
          </a:bodyPr>
          <a:lstStyle/>
          <a:p>
            <a:pPr algn="just">
              <a:lnSpc>
                <a:spcPts val="3661"/>
              </a:lnSpc>
            </a:pPr>
            <a:r>
              <a:rPr lang="en-US" sz="2141" spc="23">
                <a:solidFill>
                  <a:srgbClr val="FFFFFF"/>
                </a:solidFill>
                <a:latin typeface="Neo Tech"/>
                <a:ea typeface="Neo Tech"/>
                <a:cs typeface="Neo Tech"/>
                <a:sym typeface="Neo Tech"/>
              </a:rPr>
              <a:t>1. Analisis Lanjutan Data</a:t>
            </a:r>
          </a:p>
          <a:p>
            <a:pPr algn="just" marL="462349" indent="-231175" lvl="1">
              <a:lnSpc>
                <a:spcPts val="3661"/>
              </a:lnSpc>
              <a:buFont typeface="Arial"/>
              <a:buChar char="•"/>
            </a:pPr>
            <a:r>
              <a:rPr lang="en-US" sz="2141" spc="23">
                <a:solidFill>
                  <a:srgbClr val="FFFFFF"/>
                </a:solidFill>
                <a:latin typeface="Neo Tech"/>
                <a:ea typeface="Neo Tech"/>
                <a:cs typeface="Neo Tech"/>
                <a:sym typeface="Neo Tech"/>
              </a:rPr>
              <a:t>Mengevaluasi hubungan antara rata-rata harga beras bulanan dan jumlah impor.</a:t>
            </a:r>
          </a:p>
          <a:p>
            <a:pPr algn="just" marL="462349" indent="-231175" lvl="1">
              <a:lnSpc>
                <a:spcPts val="3661"/>
              </a:lnSpc>
              <a:buFont typeface="Arial"/>
              <a:buChar char="•"/>
            </a:pPr>
            <a:r>
              <a:rPr lang="en-US" sz="2141" spc="23">
                <a:solidFill>
                  <a:srgbClr val="FFFFFF"/>
                </a:solidFill>
                <a:latin typeface="Neo Tech"/>
                <a:ea typeface="Neo Tech"/>
                <a:cs typeface="Neo Tech"/>
                <a:sym typeface="Neo Tech"/>
              </a:rPr>
              <a:t>Menilai peran impor dalam menstabilkan harga pasar.</a:t>
            </a:r>
          </a:p>
        </p:txBody>
      </p:sp>
      <p:sp>
        <p:nvSpPr>
          <p:cNvPr name="TextBox 20" id="20"/>
          <p:cNvSpPr txBox="true"/>
          <p:nvPr/>
        </p:nvSpPr>
        <p:spPr>
          <a:xfrm rot="0">
            <a:off x="11978176" y="3624743"/>
            <a:ext cx="5021006" cy="3807928"/>
          </a:xfrm>
          <a:prstGeom prst="rect">
            <a:avLst/>
          </a:prstGeom>
        </p:spPr>
        <p:txBody>
          <a:bodyPr anchor="t" rtlCol="false" tIns="0" lIns="0" bIns="0" rIns="0">
            <a:spAutoFit/>
          </a:bodyPr>
          <a:lstStyle/>
          <a:p>
            <a:pPr algn="just">
              <a:lnSpc>
                <a:spcPts val="3269"/>
              </a:lnSpc>
            </a:pPr>
            <a:r>
              <a:rPr lang="en-US" sz="1911" spc="21">
                <a:solidFill>
                  <a:srgbClr val="FFFFFF"/>
                </a:solidFill>
                <a:latin typeface="Neo Tech"/>
                <a:ea typeface="Neo Tech"/>
                <a:cs typeface="Neo Tech"/>
                <a:sym typeface="Neo Tech"/>
              </a:rPr>
              <a:t>3. Prediksi Kebutuhan Beras 2025</a:t>
            </a:r>
          </a:p>
          <a:p>
            <a:pPr algn="just" marL="412791" indent="-206396" lvl="1">
              <a:lnSpc>
                <a:spcPts val="3269"/>
              </a:lnSpc>
              <a:buFont typeface="Arial"/>
              <a:buChar char="•"/>
            </a:pPr>
            <a:r>
              <a:rPr lang="en-US" sz="1911" spc="21">
                <a:solidFill>
                  <a:srgbClr val="FFFFFF"/>
                </a:solidFill>
                <a:latin typeface="Neo Tech"/>
                <a:ea typeface="Neo Tech"/>
                <a:cs typeface="Neo Tech"/>
                <a:sym typeface="Neo Tech"/>
              </a:rPr>
              <a:t>Menggunakan data konsumsi time series 2021–2024.</a:t>
            </a:r>
          </a:p>
          <a:p>
            <a:pPr algn="just" marL="412791" indent="-206396" lvl="1">
              <a:lnSpc>
                <a:spcPts val="3269"/>
              </a:lnSpc>
              <a:buFont typeface="Arial"/>
              <a:buChar char="•"/>
            </a:pPr>
            <a:r>
              <a:rPr lang="en-US" sz="1911" spc="21">
                <a:solidFill>
                  <a:srgbClr val="FFFFFF"/>
                </a:solidFill>
                <a:latin typeface="Neo Tech"/>
                <a:ea typeface="Neo Tech"/>
                <a:cs typeface="Neo Tech"/>
                <a:sym typeface="Neo Tech"/>
              </a:rPr>
              <a:t>Hasil prediksi mendukung:</a:t>
            </a:r>
          </a:p>
          <a:p>
            <a:pPr algn="just" marL="864133" indent="-288044" lvl="2">
              <a:lnSpc>
                <a:spcPts val="3422"/>
              </a:lnSpc>
              <a:buFont typeface="Arial"/>
              <a:buChar char="⚬"/>
            </a:pPr>
            <a:r>
              <a:rPr lang="en-US" sz="2001" spc="22">
                <a:solidFill>
                  <a:srgbClr val="FFFFFF"/>
                </a:solidFill>
                <a:latin typeface="Neo Tech"/>
                <a:ea typeface="Neo Tech"/>
                <a:cs typeface="Neo Tech"/>
                <a:sym typeface="Neo Tech"/>
              </a:rPr>
              <a:t>Perencanaan strategi pangan</a:t>
            </a:r>
          </a:p>
          <a:p>
            <a:pPr algn="just" marL="864133" indent="-288044" lvl="2">
              <a:lnSpc>
                <a:spcPts val="3422"/>
              </a:lnSpc>
              <a:buFont typeface="Arial"/>
              <a:buChar char="⚬"/>
            </a:pPr>
            <a:r>
              <a:rPr lang="en-US" sz="2001" spc="22">
                <a:solidFill>
                  <a:srgbClr val="FFFFFF"/>
                </a:solidFill>
                <a:latin typeface="Neo Tech"/>
                <a:ea typeface="Neo Tech"/>
                <a:cs typeface="Neo Tech"/>
                <a:sym typeface="Neo Tech"/>
              </a:rPr>
              <a:t>Kebijakan impor</a:t>
            </a:r>
          </a:p>
          <a:p>
            <a:pPr algn="just" marL="864133" indent="-288044" lvl="2">
              <a:lnSpc>
                <a:spcPts val="3422"/>
              </a:lnSpc>
              <a:buFont typeface="Arial"/>
              <a:buChar char="⚬"/>
            </a:pPr>
            <a:r>
              <a:rPr lang="en-US" sz="2001" spc="22">
                <a:solidFill>
                  <a:srgbClr val="FFFFFF"/>
                </a:solidFill>
                <a:latin typeface="Neo Tech"/>
                <a:ea typeface="Neo Tech"/>
                <a:cs typeface="Neo Tech"/>
                <a:sym typeface="Neo Tech"/>
              </a:rPr>
              <a:t>Pengaturan distribusi</a:t>
            </a:r>
          </a:p>
          <a:p>
            <a:pPr algn="just" marL="864133" indent="-288044" lvl="2">
              <a:lnSpc>
                <a:spcPts val="3422"/>
              </a:lnSpc>
              <a:buFont typeface="Arial"/>
              <a:buChar char="⚬"/>
            </a:pPr>
            <a:r>
              <a:rPr lang="en-US" sz="2001" spc="22">
                <a:solidFill>
                  <a:srgbClr val="FFFFFF"/>
                </a:solidFill>
                <a:latin typeface="Neo Tech"/>
                <a:ea typeface="Neo Tech"/>
                <a:cs typeface="Neo Tech"/>
                <a:sym typeface="Neo Tech"/>
              </a:rPr>
              <a:t>Penguatan cadangan pangan nasional</a:t>
            </a:r>
          </a:p>
        </p:txBody>
      </p:sp>
      <p:sp>
        <p:nvSpPr>
          <p:cNvPr name="TextBox 21" id="21"/>
          <p:cNvSpPr txBox="true"/>
          <p:nvPr/>
        </p:nvSpPr>
        <p:spPr>
          <a:xfrm rot="0">
            <a:off x="6070009" y="3615218"/>
            <a:ext cx="5629483" cy="4118970"/>
          </a:xfrm>
          <a:prstGeom prst="rect">
            <a:avLst/>
          </a:prstGeom>
        </p:spPr>
        <p:txBody>
          <a:bodyPr anchor="t" rtlCol="false" tIns="0" lIns="0" bIns="0" rIns="0">
            <a:spAutoFit/>
          </a:bodyPr>
          <a:lstStyle/>
          <a:p>
            <a:pPr algn="just">
              <a:lnSpc>
                <a:spcPts val="3661"/>
              </a:lnSpc>
            </a:pPr>
            <a:r>
              <a:rPr lang="en-US" sz="2141" spc="23">
                <a:solidFill>
                  <a:srgbClr val="FFFFFF"/>
                </a:solidFill>
                <a:latin typeface="Neo Tech"/>
                <a:ea typeface="Neo Tech"/>
                <a:cs typeface="Neo Tech"/>
                <a:sym typeface="Neo Tech"/>
              </a:rPr>
              <a:t>2. Pengembangan Dashboard Interaktif</a:t>
            </a:r>
          </a:p>
          <a:p>
            <a:pPr algn="just" marL="462349" indent="-231175" lvl="1">
              <a:lnSpc>
                <a:spcPts val="3661"/>
              </a:lnSpc>
              <a:buFont typeface="Arial"/>
              <a:buChar char="•"/>
            </a:pPr>
            <a:r>
              <a:rPr lang="en-US" sz="2141" spc="23">
                <a:solidFill>
                  <a:srgbClr val="FFFFFF"/>
                </a:solidFill>
                <a:latin typeface="Neo Tech"/>
                <a:ea typeface="Neo Tech"/>
                <a:cs typeface="Neo Tech"/>
                <a:sym typeface="Neo Tech"/>
              </a:rPr>
              <a:t>Dibangun dengan Streamlit atau PowerBI.</a:t>
            </a:r>
          </a:p>
          <a:p>
            <a:pPr algn="just" marL="462349" indent="-231175" lvl="1">
              <a:lnSpc>
                <a:spcPts val="3661"/>
              </a:lnSpc>
              <a:buFont typeface="Arial"/>
              <a:buChar char="•"/>
            </a:pPr>
            <a:r>
              <a:rPr lang="en-US" sz="2141" spc="23">
                <a:solidFill>
                  <a:srgbClr val="FFFFFF"/>
                </a:solidFill>
                <a:latin typeface="Neo Tech"/>
                <a:ea typeface="Neo Tech"/>
                <a:cs typeface="Neo Tech"/>
                <a:sym typeface="Neo Tech"/>
              </a:rPr>
              <a:t>Menampilkan:</a:t>
            </a:r>
          </a:p>
          <a:p>
            <a:pPr algn="just" marL="924699" indent="-308233" lvl="2">
              <a:lnSpc>
                <a:spcPts val="3661"/>
              </a:lnSpc>
              <a:buFont typeface="Arial"/>
              <a:buChar char="⚬"/>
            </a:pPr>
            <a:r>
              <a:rPr lang="en-US" sz="2141" spc="23">
                <a:solidFill>
                  <a:srgbClr val="FFFFFF"/>
                </a:solidFill>
                <a:latin typeface="Neo Tech"/>
                <a:ea typeface="Neo Tech"/>
                <a:cs typeface="Neo Tech"/>
                <a:sym typeface="Neo Tech"/>
              </a:rPr>
              <a:t>Peta distribusi produksi</a:t>
            </a:r>
          </a:p>
          <a:p>
            <a:pPr algn="just" marL="924699" indent="-308233" lvl="2">
              <a:lnSpc>
                <a:spcPts val="3661"/>
              </a:lnSpc>
              <a:buFont typeface="Arial"/>
              <a:buChar char="⚬"/>
            </a:pPr>
            <a:r>
              <a:rPr lang="en-US" sz="2141" spc="23">
                <a:solidFill>
                  <a:srgbClr val="FFFFFF"/>
                </a:solidFill>
                <a:latin typeface="Neo Tech"/>
                <a:ea typeface="Neo Tech"/>
                <a:cs typeface="Neo Tech"/>
                <a:sym typeface="Neo Tech"/>
              </a:rPr>
              <a:t>Nilai ketahanan pangan</a:t>
            </a:r>
          </a:p>
          <a:p>
            <a:pPr algn="just" marL="924699" indent="-308233" lvl="2">
              <a:lnSpc>
                <a:spcPts val="3661"/>
              </a:lnSpc>
              <a:buFont typeface="Arial"/>
              <a:buChar char="⚬"/>
            </a:pPr>
            <a:r>
              <a:rPr lang="en-US" sz="2141" spc="23">
                <a:solidFill>
                  <a:srgbClr val="FFFFFF"/>
                </a:solidFill>
                <a:latin typeface="Neo Tech"/>
                <a:ea typeface="Neo Tech"/>
                <a:cs typeface="Neo Tech"/>
                <a:sym typeface="Neo Tech"/>
              </a:rPr>
              <a:t>Tren harga</a:t>
            </a:r>
          </a:p>
          <a:p>
            <a:pPr algn="just" marL="924699" indent="-308233" lvl="2">
              <a:lnSpc>
                <a:spcPts val="3661"/>
              </a:lnSpc>
              <a:buFont typeface="Arial"/>
              <a:buChar char="⚬"/>
            </a:pPr>
            <a:r>
              <a:rPr lang="en-US" sz="2141" spc="23">
                <a:solidFill>
                  <a:srgbClr val="FFFFFF"/>
                </a:solidFill>
                <a:latin typeface="Neo Tech"/>
                <a:ea typeface="Neo Tech"/>
                <a:cs typeface="Neo Tech"/>
                <a:sym typeface="Neo Tech"/>
              </a:rPr>
              <a:t>Indikator surplus &amp; defisit pangan</a:t>
            </a:r>
          </a:p>
          <a:p>
            <a:pPr algn="just" marL="462349" indent="-231175" lvl="1">
              <a:lnSpc>
                <a:spcPts val="3661"/>
              </a:lnSpc>
              <a:buFont typeface="Arial"/>
              <a:buChar char="•"/>
            </a:pPr>
            <a:r>
              <a:rPr lang="en-US" sz="2141" spc="23">
                <a:solidFill>
                  <a:srgbClr val="FFFFFF"/>
                </a:solidFill>
                <a:latin typeface="Neo Tech"/>
                <a:ea typeface="Neo Tech"/>
                <a:cs typeface="Neo Tech"/>
                <a:sym typeface="Neo Tech"/>
              </a:rPr>
              <a:t>Memudahkan pemangku kepentingan mengakses informasi secara cepat.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44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44999"/>
            </a:blip>
            <a:stretch>
              <a:fillRect l="0" t="0" r="0" b="0"/>
            </a:stretch>
          </a:blipFill>
        </p:spPr>
      </p:sp>
      <p:grpSp>
        <p:nvGrpSpPr>
          <p:cNvPr name="Group 8" id="8"/>
          <p:cNvGrpSpPr/>
          <p:nvPr/>
        </p:nvGrpSpPr>
        <p:grpSpPr>
          <a:xfrm rot="0">
            <a:off x="1028700" y="1028700"/>
            <a:ext cx="16230600" cy="8229600"/>
            <a:chOff x="0" y="0"/>
            <a:chExt cx="4274726" cy="2167467"/>
          </a:xfrm>
        </p:grpSpPr>
        <p:sp>
          <p:nvSpPr>
            <p:cNvPr name="Freeform 9" id="9"/>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name="TextBox 10" id="10"/>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969121" y="1028700"/>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10800000">
            <a:off x="3969121" y="8389236"/>
            <a:ext cx="10349757" cy="869064"/>
          </a:xfrm>
          <a:custGeom>
            <a:avLst/>
            <a:gdLst/>
            <a:ahLst/>
            <a:cxnLst/>
            <a:rect r="r" b="b" t="t" l="l"/>
            <a:pathLst>
              <a:path h="869064" w="10349757">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1028700"/>
            <a:ext cx="16230600" cy="8229600"/>
            <a:chOff x="0" y="0"/>
            <a:chExt cx="4274726" cy="2167467"/>
          </a:xfrm>
        </p:grpSpPr>
        <p:sp>
          <p:nvSpPr>
            <p:cNvPr name="Freeform 14" id="14"/>
            <p:cNvSpPr/>
            <p:nvPr/>
          </p:nvSpPr>
          <p:spPr>
            <a:xfrm flipH="false" flipV="false" rot="0">
              <a:off x="0" y="0"/>
              <a:ext cx="4274726" cy="2167467"/>
            </a:xfrm>
            <a:custGeom>
              <a:avLst/>
              <a:gdLst/>
              <a:ahLst/>
              <a:cxnLst/>
              <a:rect r="r" b="b" t="t" l="l"/>
              <a:pathLst>
                <a:path h="2167467" w="4274726">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000000">
                <a:alpha val="0"/>
              </a:srgbClr>
            </a:solidFill>
            <a:ln w="85725" cap="rnd">
              <a:solidFill>
                <a:srgbClr val="1EF1FF"/>
              </a:solidFill>
              <a:prstDash val="solid"/>
              <a:round/>
            </a:ln>
          </p:spPr>
        </p:sp>
        <p:sp>
          <p:nvSpPr>
            <p:cNvPr name="TextBox 15" id="1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7031449" y="2067166"/>
            <a:ext cx="4225101" cy="935774"/>
          </a:xfrm>
          <a:prstGeom prst="rect">
            <a:avLst/>
          </a:prstGeom>
        </p:spPr>
        <p:txBody>
          <a:bodyPr anchor="t" rtlCol="false" tIns="0" lIns="0" bIns="0" rIns="0">
            <a:spAutoFit/>
          </a:bodyPr>
          <a:lstStyle/>
          <a:p>
            <a:pPr algn="ctr">
              <a:lnSpc>
                <a:spcPts val="6644"/>
              </a:lnSpc>
            </a:pPr>
            <a:r>
              <a:rPr lang="en-US" b="true" sz="5191">
                <a:solidFill>
                  <a:srgbClr val="FFFFFF"/>
                </a:solidFill>
                <a:latin typeface="Neo Tech Bold"/>
                <a:ea typeface="Neo Tech Bold"/>
                <a:cs typeface="Neo Tech Bold"/>
                <a:sym typeface="Neo Tech Bold"/>
              </a:rPr>
              <a:t>KESIMPULAN</a:t>
            </a:r>
          </a:p>
        </p:txBody>
      </p:sp>
      <p:sp>
        <p:nvSpPr>
          <p:cNvPr name="Freeform 17" id="17"/>
          <p:cNvSpPr/>
          <p:nvPr/>
        </p:nvSpPr>
        <p:spPr>
          <a:xfrm flipH="false" flipV="false" rot="0">
            <a:off x="1028700" y="2482306"/>
            <a:ext cx="3507719" cy="242352"/>
          </a:xfrm>
          <a:custGeom>
            <a:avLst/>
            <a:gdLst/>
            <a:ahLst/>
            <a:cxnLst/>
            <a:rect r="r" b="b" t="t" l="l"/>
            <a:pathLst>
              <a:path h="242352" w="3507719">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true" flipV="false" rot="0">
            <a:off x="13751581" y="2482306"/>
            <a:ext cx="3507719" cy="242352"/>
          </a:xfrm>
          <a:custGeom>
            <a:avLst/>
            <a:gdLst/>
            <a:ahLst/>
            <a:cxnLst/>
            <a:rect r="r" b="b" t="t" l="l"/>
            <a:pathLst>
              <a:path h="242352" w="3507719">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2029374" y="3753332"/>
            <a:ext cx="3879494" cy="3879494"/>
          </a:xfrm>
          <a:custGeom>
            <a:avLst/>
            <a:gdLst/>
            <a:ahLst/>
            <a:cxnLst/>
            <a:rect r="r" b="b" t="t" l="l"/>
            <a:pathLst>
              <a:path h="3879494" w="3879494">
                <a:moveTo>
                  <a:pt x="0" y="0"/>
                </a:moveTo>
                <a:lnTo>
                  <a:pt x="3879494" y="0"/>
                </a:lnTo>
                <a:lnTo>
                  <a:pt x="3879494" y="3879494"/>
                </a:lnTo>
                <a:lnTo>
                  <a:pt x="0" y="38794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0" id="20"/>
          <p:cNvSpPr txBox="true"/>
          <p:nvPr/>
        </p:nvSpPr>
        <p:spPr>
          <a:xfrm rot="0">
            <a:off x="6320498" y="2831490"/>
            <a:ext cx="10552988" cy="5572867"/>
          </a:xfrm>
          <a:prstGeom prst="rect">
            <a:avLst/>
          </a:prstGeom>
        </p:spPr>
        <p:txBody>
          <a:bodyPr anchor="t" rtlCol="false" tIns="0" lIns="0" bIns="0" rIns="0">
            <a:spAutoFit/>
          </a:bodyPr>
          <a:lstStyle/>
          <a:p>
            <a:pPr algn="just">
              <a:lnSpc>
                <a:spcPts val="4003"/>
              </a:lnSpc>
            </a:pPr>
            <a:r>
              <a:rPr lang="en-US" sz="2341" spc="25">
                <a:solidFill>
                  <a:srgbClr val="FFFFFF"/>
                </a:solidFill>
                <a:latin typeface="Neo Tech"/>
                <a:ea typeface="Neo Tech"/>
                <a:cs typeface="Neo Tech"/>
                <a:sym typeface="Neo Tech"/>
              </a:rPr>
              <a:t>Berdasarkan proses integrasi, pengolahan, dan analisis data produksi, konsumsi, harga pangan, ekspor, dan impor tahun 2021–2024, dapat disimpulkan bahwa stabilitas pangan di Indonesia masih menghadapi berbagai tantangan struktural. Ketidakselarasan data menyebabkan informasi mengenai pangan tidak terhubung satu sama lain, sehingga pemerintah kesulitan dalam mendapatkan gambaran menyeluruh untuk pengambilan keputusan strategis. Integrasi data yang dilakukan dalam studi ini menunjukkan bahwa perubahan harga pangan, terutama beras, sangat dipengaruhi oleh kondisi produksi domestik dan jumlah impor. Selain itu, analisis eksploratif memperlihatkan adanya ketimpangan ketahanan pangan antar wilayah.</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13566"/>
        </a:solidFill>
      </p:bgPr>
    </p:bg>
    <p:spTree>
      <p:nvGrpSpPr>
        <p:cNvPr id="1" name=""/>
        <p:cNvGrpSpPr/>
        <p:nvPr/>
      </p:nvGrpSpPr>
      <p:grpSpPr>
        <a:xfrm>
          <a:off x="0" y="0"/>
          <a:ext cx="0" cy="0"/>
          <a:chOff x="0" y="0"/>
          <a:chExt cx="0" cy="0"/>
        </a:xfrm>
      </p:grpSpPr>
      <p:sp>
        <p:nvSpPr>
          <p:cNvPr name="Freeform 2" id="2"/>
          <p:cNvSpPr/>
          <p:nvPr/>
        </p:nvSpPr>
        <p:spPr>
          <a:xfrm flipH="false" flipV="false" rot="0">
            <a:off x="12252153"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3" id="3"/>
          <p:cNvSpPr/>
          <p:nvPr/>
        </p:nvSpPr>
        <p:spPr>
          <a:xfrm flipH="false" flipV="false" rot="0">
            <a:off x="6126077" y="-892347"/>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4" id="4"/>
          <p:cNvSpPr/>
          <p:nvPr/>
        </p:nvSpPr>
        <p:spPr>
          <a:xfrm flipH="false" flipV="false" rot="0">
            <a:off x="12252153"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5" id="5"/>
          <p:cNvSpPr/>
          <p:nvPr/>
        </p:nvSpPr>
        <p:spPr>
          <a:xfrm flipH="false" flipV="false" rot="0">
            <a:off x="6126077" y="5143500"/>
            <a:ext cx="6035847" cy="6035847"/>
          </a:xfrm>
          <a:custGeom>
            <a:avLst/>
            <a:gdLst/>
            <a:ahLst/>
            <a:cxnLst/>
            <a:rect r="r" b="b" t="t" l="l"/>
            <a:pathLst>
              <a:path h="6035847" w="6035847">
                <a:moveTo>
                  <a:pt x="0" y="0"/>
                </a:moveTo>
                <a:lnTo>
                  <a:pt x="6035846" y="0"/>
                </a:lnTo>
                <a:lnTo>
                  <a:pt x="6035846" y="6035847"/>
                </a:lnTo>
                <a:lnTo>
                  <a:pt x="0" y="6035847"/>
                </a:lnTo>
                <a:lnTo>
                  <a:pt x="0" y="0"/>
                </a:lnTo>
                <a:close/>
              </a:path>
            </a:pathLst>
          </a:custGeom>
          <a:blipFill>
            <a:blip r:embed="rId2">
              <a:alphaModFix amt="9999"/>
            </a:blip>
            <a:stretch>
              <a:fillRect l="0" t="0" r="0" b="0"/>
            </a:stretch>
          </a:blipFill>
        </p:spPr>
      </p:sp>
      <p:sp>
        <p:nvSpPr>
          <p:cNvPr name="Freeform 6" id="6"/>
          <p:cNvSpPr/>
          <p:nvPr/>
        </p:nvSpPr>
        <p:spPr>
          <a:xfrm flipH="false" flipV="false" rot="0">
            <a:off x="0" y="-892347"/>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7" id="7"/>
          <p:cNvSpPr/>
          <p:nvPr/>
        </p:nvSpPr>
        <p:spPr>
          <a:xfrm flipH="false" flipV="false" rot="0">
            <a:off x="0" y="5143500"/>
            <a:ext cx="6035847" cy="6035847"/>
          </a:xfrm>
          <a:custGeom>
            <a:avLst/>
            <a:gdLst/>
            <a:ahLst/>
            <a:cxnLst/>
            <a:rect r="r" b="b" t="t" l="l"/>
            <a:pathLst>
              <a:path h="6035847" w="6035847">
                <a:moveTo>
                  <a:pt x="0" y="0"/>
                </a:moveTo>
                <a:lnTo>
                  <a:pt x="6035847" y="0"/>
                </a:lnTo>
                <a:lnTo>
                  <a:pt x="6035847" y="6035847"/>
                </a:lnTo>
                <a:lnTo>
                  <a:pt x="0" y="6035847"/>
                </a:lnTo>
                <a:lnTo>
                  <a:pt x="0" y="0"/>
                </a:lnTo>
                <a:close/>
              </a:path>
            </a:pathLst>
          </a:custGeom>
          <a:blipFill>
            <a:blip r:embed="rId2">
              <a:alphaModFix amt="9999"/>
            </a:blip>
            <a:stretch>
              <a:fillRect l="0" t="0" r="0" b="0"/>
            </a:stretch>
          </a:blipFill>
        </p:spPr>
      </p:sp>
      <p:sp>
        <p:nvSpPr>
          <p:cNvPr name="Freeform 8" id="8"/>
          <p:cNvSpPr/>
          <p:nvPr/>
        </p:nvSpPr>
        <p:spPr>
          <a:xfrm flipH="false" flipV="false" rot="0">
            <a:off x="1729946" y="1028700"/>
            <a:ext cx="14828108" cy="8229600"/>
          </a:xfrm>
          <a:custGeom>
            <a:avLst/>
            <a:gdLst/>
            <a:ahLst/>
            <a:cxnLst/>
            <a:rect r="r" b="b" t="t" l="l"/>
            <a:pathLst>
              <a:path h="8229600" w="14828108">
                <a:moveTo>
                  <a:pt x="0" y="0"/>
                </a:moveTo>
                <a:lnTo>
                  <a:pt x="14828108" y="0"/>
                </a:lnTo>
                <a:lnTo>
                  <a:pt x="1482810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71355" y="7684325"/>
            <a:ext cx="3731115" cy="2957757"/>
          </a:xfrm>
          <a:custGeom>
            <a:avLst/>
            <a:gdLst/>
            <a:ahLst/>
            <a:cxnLst/>
            <a:rect r="r" b="b" t="t" l="l"/>
            <a:pathLst>
              <a:path h="2957757" w="3731115">
                <a:moveTo>
                  <a:pt x="0" y="0"/>
                </a:moveTo>
                <a:lnTo>
                  <a:pt x="3731115" y="0"/>
                </a:lnTo>
                <a:lnTo>
                  <a:pt x="3731115" y="2957757"/>
                </a:lnTo>
                <a:lnTo>
                  <a:pt x="0" y="2957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0">
            <a:off x="15604847" y="-832180"/>
            <a:ext cx="3396344" cy="2692375"/>
          </a:xfrm>
          <a:custGeom>
            <a:avLst/>
            <a:gdLst/>
            <a:ahLst/>
            <a:cxnLst/>
            <a:rect r="r" b="b" t="t" l="l"/>
            <a:pathLst>
              <a:path h="2692375" w="3396344">
                <a:moveTo>
                  <a:pt x="3396345" y="0"/>
                </a:moveTo>
                <a:lnTo>
                  <a:pt x="0" y="0"/>
                </a:lnTo>
                <a:lnTo>
                  <a:pt x="0" y="2692375"/>
                </a:lnTo>
                <a:lnTo>
                  <a:pt x="3396345" y="2692375"/>
                </a:lnTo>
                <a:lnTo>
                  <a:pt x="339634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1" id="11"/>
          <p:cNvSpPr/>
          <p:nvPr/>
        </p:nvSpPr>
        <p:spPr>
          <a:xfrm flipV="true">
            <a:off x="4030157" y="2618302"/>
            <a:ext cx="10227686" cy="0"/>
          </a:xfrm>
          <a:prstGeom prst="line">
            <a:avLst/>
          </a:prstGeom>
          <a:ln cap="flat" w="38100">
            <a:solidFill>
              <a:srgbClr val="FFFFFF"/>
            </a:solidFill>
            <a:prstDash val="solid"/>
            <a:headEnd type="none" len="sm" w="sm"/>
            <a:tailEnd type="none" len="sm" w="sm"/>
          </a:ln>
        </p:spPr>
      </p:sp>
      <p:sp>
        <p:nvSpPr>
          <p:cNvPr name="Freeform 12" id="12"/>
          <p:cNvSpPr/>
          <p:nvPr/>
        </p:nvSpPr>
        <p:spPr>
          <a:xfrm flipH="false" flipV="false" rot="0">
            <a:off x="3259760" y="6378821"/>
            <a:ext cx="2242799" cy="1529181"/>
          </a:xfrm>
          <a:custGeom>
            <a:avLst/>
            <a:gdLst/>
            <a:ahLst/>
            <a:cxnLst/>
            <a:rect r="r" b="b" t="t" l="l"/>
            <a:pathLst>
              <a:path h="1529181" w="2242799">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2781048" y="6378821"/>
            <a:ext cx="2242799" cy="1529181"/>
          </a:xfrm>
          <a:custGeom>
            <a:avLst/>
            <a:gdLst/>
            <a:ahLst/>
            <a:cxnLst/>
            <a:rect r="r" b="b" t="t" l="l"/>
            <a:pathLst>
              <a:path h="1529181" w="2242799">
                <a:moveTo>
                  <a:pt x="0" y="0"/>
                </a:moveTo>
                <a:lnTo>
                  <a:pt x="2242800" y="0"/>
                </a:lnTo>
                <a:lnTo>
                  <a:pt x="2242800"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5062878" y="3006667"/>
            <a:ext cx="8162244" cy="3230627"/>
          </a:xfrm>
          <a:prstGeom prst="rect">
            <a:avLst/>
          </a:prstGeom>
        </p:spPr>
        <p:txBody>
          <a:bodyPr anchor="t" rtlCol="false" tIns="0" lIns="0" bIns="0" rIns="0">
            <a:spAutoFit/>
          </a:bodyPr>
          <a:lstStyle/>
          <a:p>
            <a:pPr algn="ctr">
              <a:lnSpc>
                <a:spcPts val="12087"/>
              </a:lnSpc>
            </a:pPr>
            <a:r>
              <a:rPr lang="en-US" b="true" sz="9443">
                <a:solidFill>
                  <a:srgbClr val="1EF1FF"/>
                </a:solidFill>
                <a:latin typeface="Neo Tech Bold"/>
                <a:ea typeface="Neo Tech Bold"/>
                <a:cs typeface="Neo Tech Bold"/>
                <a:sym typeface="Neo Tech Bold"/>
              </a:rPr>
              <a:t>SEKIAN</a:t>
            </a:r>
          </a:p>
          <a:p>
            <a:pPr algn="ctr">
              <a:lnSpc>
                <a:spcPts val="12087"/>
              </a:lnSpc>
            </a:pPr>
            <a:r>
              <a:rPr lang="en-US" b="true" sz="9443">
                <a:solidFill>
                  <a:srgbClr val="1EF1FF"/>
                </a:solidFill>
                <a:latin typeface="Neo Tech Bold"/>
                <a:ea typeface="Neo Tech Bold"/>
                <a:cs typeface="Neo Tech Bold"/>
                <a:sym typeface="Neo Tech Bold"/>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DAG5kgpMyIc</dc:identifier>
  <dcterms:modified xsi:type="dcterms:W3CDTF">2011-08-01T06:04:30Z</dcterms:modified>
  <cp:revision>1</cp:revision>
  <dc:title>PPT Kelompok 17</dc:title>
</cp:coreProperties>
</file>